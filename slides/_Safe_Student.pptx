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7" r:id="rId15"/>
    <p:sldId id="278" r:id="rId16"/>
    <p:sldId id="279" r:id="rId17"/>
    <p:sldId id="28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261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apresente o grupo, a disciplina e o professor. Frase-chave: o Safe Student é um MVP acadêmico que mostra como requisitos, privacidade e extensão se unem em uma solução aplicável.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Contextualize: escolas lidam com entrada e saída todos os dias. O projeto nasce da extensão universitária e respeita a LGPD desde o desenho.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em três pontos: visibilidade, retrabalho e comunicação dispersa. Todos reduzem a rastreabilidade.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objetivo com calma: é a hipótese que o MVP busca demonstrar.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qualitativa com apoio quantitativo em indicadores de validação acadêmica. Cinco etapas encadeadas.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atores: família, portaria e gestão. Mensagens e CSV são complementares para não inflar o escopo.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pelo login: mostre o seletor de contas de demonstração e explique que o perfil define o que cada pessoa vê.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Demonstração ao vivo: digite SS-ALU001, consulte, registre a saída. Mostre também uma tentativa inválida.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responsavel@demo.com. Destaque o isolamento: nada de outras famílias.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Perfil gestor@demo.com. Reforce que os valores da tela são dados sintéticos de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evento CADASTRAR_ALUNO gerado pela matrícula feita na demonstração.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simples de propósito: fácil de auditar. Autorização é verificada no backend, não só na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Perfis alinhados ao princípio do menor privilégio. Cada perfil enxerga somente o necessário.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número aqui vem da documentação do pacote final. Antes de apresentar, rode npm test e confirme 49/49.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Honestidade acadêmica: a pesquisa de campo permanece PARCIAL até existir evidência primária real. Essa transparência fortalece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extraídas do artigo ABNT do projeto. Acessos em 12 ago.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abrindo para perguntas da banca.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38820"/>
            <a:ext cx="527050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14141"/>
            <a:ext cx="10566400" cy="4031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38820"/>
            <a:ext cx="527050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60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014141"/>
            <a:ext cx="10566400" cy="4031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02E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341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acadêmico com dados sintéticos — não homologado para produção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631950"/>
            <a:ext cx="51800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PRÁTICAS EXTENSIONISTAS INTEGRADORAS VI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023070"/>
            <a:ext cx="518007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600" b="1" i="0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Safe Student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12800" y="2912070"/>
            <a:ext cx="51800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Presença escolar rastreável e comunicação família–escola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12800" y="3750270"/>
            <a:ext cx="5180076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Flavio Gabrig Ferreira · 202323361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Richardson Conceição Ferreira · 202323181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Lealdo Coelho Válido de Jesus · 202323215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4728170"/>
            <a:ext cx="518007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Altemar Sales de Oliveira · Saquarema/RJ · 2026</a:t>
            </a:r>
            <a:endParaRPr lang="en-US" sz="1300" dirty="0"/>
          </a:p>
        </p:txBody>
      </p:sp>
      <p:pic>
        <p:nvPicPr>
          <p:cNvPr id="8" name="Image 0" descr="Tela de login do Safe Student"/>
          <p:cNvPicPr>
            <a:picLocks noChangeAspect="1"/>
          </p:cNvPicPr>
          <p:nvPr/>
        </p:nvPicPr>
        <p:blipFill>
          <a:blip r:embed="rId3"/>
          <a:srcRect l="486" r="486"/>
          <a:stretch/>
        </p:blipFill>
        <p:spPr>
          <a:xfrm>
            <a:off x="6620867" y="2183309"/>
            <a:ext cx="5564684" cy="2769691"/>
          </a:xfrm>
          <a:prstGeom prst="roundRect">
            <a:avLst>
              <a:gd name="adj" fmla="val 3439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6617692" y="2180134"/>
            <a:ext cx="5571034" cy="2776041"/>
          </a:xfrm>
          <a:prstGeom prst="roundRect">
            <a:avLst>
              <a:gd name="adj" fmla="val 3546"/>
            </a:avLst>
          </a:prstGeom>
          <a:noFill/>
          <a:ln w="6350">
            <a:solidFill>
              <a:srgbClr val="27405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· CONTEXTO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Saber quando o estudante entra e sai da escola é parte da segurança e do acompanhamento familiar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Escola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e portaria precisam registrar a movimentação de forma consistente e consultável.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0202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300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Família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8300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Responsáveis querem informação rápida, sem depender de ligações ou recados.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807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905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Extensão universitária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905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alinhado à Resolução CNE/CES nº 7/2018, em interação com a comunidade escolar.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74125" y="1935956"/>
            <a:ext cx="250190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5100" y="211693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Privacidade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5100" y="2419152"/>
            <a:ext cx="220414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LGPD (Lei nº 13.709/2018) e proteção de crianças e adolescentes orientam o desenho da solução.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· PROBLEMÁTICA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dificuldades comuns no acompanhamento da movimentação escolar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935956"/>
            <a:ext cx="3397250" cy="1481832"/>
          </a:xfrm>
          <a:prstGeom prst="roundRect">
            <a:avLst>
              <a:gd name="adj" fmla="val 6642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11693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525812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Baixa visibilidade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82803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Responsáveis têm pouca clareza sobre entrada e saída do estudante.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7375" y="1935956"/>
            <a:ext cx="3397250" cy="1481832"/>
          </a:xfrm>
          <a:prstGeom prst="roundRect">
            <a:avLst>
              <a:gd name="adj" fmla="val 6642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350" y="211693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350" y="2525812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Registros manuais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8350" y="282803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Processos manuais geram retrabalho e dificultam relatórios e histórico.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8775" y="1935956"/>
            <a:ext cx="3397250" cy="1481832"/>
          </a:xfrm>
          <a:prstGeom prst="roundRect">
            <a:avLst>
              <a:gd name="adj" fmla="val 6642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9750" y="211693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9750" y="2525812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Comunicação fragmentada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9750" y="282803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Família, portaria e gestão conversam por canais dispersos, sem rastro.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5F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DB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INTRODUÇÃO · OBJETIVO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51520"/>
            <a:ext cx="10883392" cy="1514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10"/>
              </a:lnSpc>
              <a:buNone/>
            </a:pPr>
            <a:r>
              <a:rPr lang="en-US" sz="3400" b="1" i="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Demonstrar que identificação simples, registro rastreável e notificação rápida tornam a movimentação escolar mais clara e verificável.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769592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DBE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Hipótese do MVP, validada por requisitos, testes automatizados e roteiro funcional com perfis demonstrativos.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METODOLOGIA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779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Pesquisa aplicada, exploratória e descritiva, com validação acadêmica controlada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935956"/>
            <a:ext cx="19646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11693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525812"/>
            <a:ext cx="1653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Pesquisa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828032"/>
            <a:ext cx="16534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Revisão bibliográfica e análise documental.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64755" y="1935956"/>
            <a:ext cx="19647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730" y="211693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45730" y="2525812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Requisitos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45730" y="2828032"/>
            <a:ext cx="1653580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Levantamento, casos de uso e regras de negócio.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13635" y="1935956"/>
            <a:ext cx="19646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610" y="211693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94610" y="2525812"/>
            <a:ext cx="1653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Modelagem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94610" y="2828032"/>
            <a:ext cx="16534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Prototipação, UML e modelo lógico (DER).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2416" y="1935956"/>
            <a:ext cx="19647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391" y="211693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43391" y="2525812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Implementação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43391" y="282803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Desenvolvimento incremental do MVP.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11295" y="1935956"/>
            <a:ext cx="196473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2270" y="211693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92270" y="2525812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Validação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92270" y="2828032"/>
            <a:ext cx="1653580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de software e validação com perfis representativos.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Cinco funcionalidades essenciais sustentam o MVP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19646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148681"/>
            <a:ext cx="16534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Autenticação e perfis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664222"/>
            <a:ext cx="16534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e operações controlados por perfil.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64755" y="1558826"/>
            <a:ext cx="19647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45730" y="173980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145730" y="2148681"/>
            <a:ext cx="16535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Vínculo aluno–responsável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45730" y="266422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Família vê apenas estudantes vinculados.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113635" y="1558826"/>
            <a:ext cx="19646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94610" y="1739801"/>
            <a:ext cx="16534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94610" y="2148681"/>
            <a:ext cx="16534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Entrada e saída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94610" y="2450902"/>
            <a:ext cx="1653480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por QR/token simulado, em sequência válida.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262416" y="1558826"/>
            <a:ext cx="19647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43391" y="173980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43391" y="2148681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Notificação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43391" y="245090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Aviso automático ao responsável vinculado.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411295" y="1558826"/>
            <a:ext cx="1964730" cy="1695152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2270" y="1739801"/>
            <a:ext cx="165358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92270" y="2148681"/>
            <a:ext cx="1653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Rastreabilidade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92270" y="2450902"/>
            <a:ext cx="1653580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Histórico, relatório e auditoria.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12800" y="343495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Recursos complementares, fora da contagem: mensagens, exportação CSV, tema claro/</a:t>
            </a:r>
            <a:r>
              <a:rPr lang="en-US" sz="1300" dirty="0" err="1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escuro</a:t>
            </a: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feedback.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919857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ACESSO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10977"/>
            <a:ext cx="329641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Entrada segura por perfil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215059"/>
            <a:ext cx="32964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Credenciais institucionais, ativação de conta por convite e contas de demonstração.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3139380"/>
            <a:ext cx="3204210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Senhas com scrypt e sessão com expiração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Identificação clara de ambiente de demonstração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812800"/>
            <a:ext cx="6959600" cy="3429000"/>
          </a:xfrm>
          <a:prstGeom prst="roundRect">
            <a:avLst>
              <a:gd name="adj" fmla="val 2963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14" r="-114"/>
          <a:stretch/>
        </p:blipFill>
        <p:spPr>
          <a:xfrm>
            <a:off x="4425950" y="819150"/>
            <a:ext cx="6946900" cy="3416300"/>
          </a:xfrm>
          <a:prstGeom prst="roundRect">
            <a:avLst>
              <a:gd name="adj" fmla="val 2788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815975"/>
            <a:ext cx="6953250" cy="3422650"/>
          </a:xfrm>
          <a:prstGeom prst="roundRect">
            <a:avLst>
              <a:gd name="adj" fmla="val 2876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87227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PORTARIA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78348"/>
            <a:ext cx="3296412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Próxima movimentação sempre válida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445570"/>
            <a:ext cx="32964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 ou QR identifica o estudante; o sistema mostra o que fazer.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4121051"/>
            <a:ext cx="320421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entrada → saída garantida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Movimentações recentes ao lado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711200"/>
            <a:ext cx="6959600" cy="5232400"/>
          </a:xfrm>
          <a:prstGeom prst="roundRect">
            <a:avLst>
              <a:gd name="adj" fmla="val 1942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25950" y="717550"/>
            <a:ext cx="6946900" cy="5219700"/>
          </a:xfrm>
          <a:prstGeom prst="roundRect">
            <a:avLst>
              <a:gd name="adj" fmla="val 1825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714375"/>
            <a:ext cx="6953250" cy="5226050"/>
          </a:xfrm>
          <a:prstGeom prst="roundRect">
            <a:avLst>
              <a:gd name="adj" fmla="val 1883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62807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RESPONSÁVEL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53927"/>
            <a:ext cx="3296412" cy="1114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Família informada e canal de comunicação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321149"/>
            <a:ext cx="329641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Responsável vê só os estudantes vinculados e recebe avisos de entrada e saída.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4245471"/>
            <a:ext cx="320421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Notificações internas por evento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Mensagens apenas entre perfis permitidos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711200"/>
            <a:ext cx="6959600" cy="5232400"/>
          </a:xfrm>
          <a:prstGeom prst="roundRect">
            <a:avLst>
              <a:gd name="adj" fmla="val 1942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25950" y="717550"/>
            <a:ext cx="6946900" cy="5219700"/>
          </a:xfrm>
          <a:prstGeom prst="roundRect">
            <a:avLst>
              <a:gd name="adj" fmla="val 1825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714375"/>
            <a:ext cx="6953250" cy="5226050"/>
          </a:xfrm>
          <a:prstGeom prst="roundRect">
            <a:avLst>
              <a:gd name="adj" fmla="val 1883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93218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GESTÃO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84338"/>
            <a:ext cx="5232400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Visão geral da operação escolar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388420"/>
            <a:ext cx="523240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de movimentação, pendências, resumo por turma e linha do tempo.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4063901"/>
            <a:ext cx="514019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Atalhos para matrícula, portaria e relatórios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os números são dados fictícios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99200" y="711200"/>
            <a:ext cx="5080000" cy="5232400"/>
          </a:xfrm>
          <a:prstGeom prst="roundRect">
            <a:avLst>
              <a:gd name="adj" fmla="val 2000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t="-34" b="-34"/>
          <a:stretch/>
        </p:blipFill>
        <p:spPr>
          <a:xfrm>
            <a:off x="6305550" y="717550"/>
            <a:ext cx="5067300" cy="5219700"/>
          </a:xfrm>
          <a:prstGeom prst="roundRect">
            <a:avLst>
              <a:gd name="adj" fmla="val 188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6302375" y="714375"/>
            <a:ext cx="5073650" cy="5226050"/>
          </a:xfrm>
          <a:prstGeom prst="roundRect">
            <a:avLst>
              <a:gd name="adj" fmla="val 1940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68798"/>
            <a:ext cx="32964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· GOVERNANÇA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359918"/>
            <a:ext cx="329641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Auditoria de eventos críticos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3263999"/>
            <a:ext cx="329641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operação relevante gera um registro pesquisável e rastreável.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7382" y="3939480"/>
            <a:ext cx="3204210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Filtros por data, ação e usuário</a:t>
            </a:r>
            <a:endParaRPr lang="en-US" sz="1400" dirty="0"/>
          </a:p>
          <a:p>
            <a:pPr marL="169418" indent="-16941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Gestão não lê mensagens privadas de terceiros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19600" y="711200"/>
            <a:ext cx="6959600" cy="5232400"/>
          </a:xfrm>
          <a:prstGeom prst="roundRect">
            <a:avLst>
              <a:gd name="adj" fmla="val 1942"/>
            </a:avLst>
          </a:prstGeom>
          <a:solidFill>
            <a:srgbClr val="E6EBF2"/>
          </a:solidFill>
          <a:ln/>
        </p:spPr>
      </p:sp>
      <p:pic>
        <p:nvPicPr>
          <p:cNvPr id="7" name="Image 0" descr="Tela do MVP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4425950" y="717550"/>
            <a:ext cx="6946900" cy="5219700"/>
          </a:xfrm>
          <a:prstGeom prst="roundRect">
            <a:avLst>
              <a:gd name="adj" fmla="val 1825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4422775" y="714375"/>
            <a:ext cx="6953250" cy="5226050"/>
          </a:xfrm>
          <a:prstGeom prst="roundRect">
            <a:avLst>
              <a:gd name="adj" fmla="val 1883"/>
            </a:avLst>
          </a:prstGeom>
          <a:noFill/>
          <a:ln w="6350">
            <a:solidFill>
              <a:srgbClr val="DDE3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 · ARQUITETURA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Arquitetura enxuta, com privacidade por padrão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Interface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042021"/>
            <a:ext cx="220414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 e JavaScript sem framework.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0202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8300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Servidor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83000" y="2042021"/>
            <a:ext cx="220414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 18+ com módulos nativos: http, fs e crypto.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807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905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Dados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69050" y="2042021"/>
            <a:ext cx="220414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com migrations; seed sintética versionada.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874125" y="1558826"/>
            <a:ext cx="2501900" cy="1277342"/>
          </a:xfrm>
          <a:prstGeom prst="roundRect">
            <a:avLst>
              <a:gd name="adj" fmla="val 7705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5100" y="1739801"/>
            <a:ext cx="22041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5100" y="2042021"/>
            <a:ext cx="2204149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Senhas com scrypt, sessões com expiração e autorização por perfil no backend.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301714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Minimização de dados: sem biometria, geolocalização contínua, push real ou integração com banco corporativo.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PROPOSTA · PERFIS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Três perfis, cada um com permissões mínimas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339725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Família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6950" y="214868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Responsável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450902"/>
            <a:ext cx="3126359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 apenas estudantes vinculados, recebe notificações e conversa com a escola.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97375" y="1558826"/>
            <a:ext cx="339725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8350" y="173980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Operação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8350" y="214868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Portaria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8350" y="245090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Localiza o estudante por token ou QR e registra a próxima movimentação válida.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78775" y="1558826"/>
            <a:ext cx="3397250" cy="1686223"/>
          </a:xfrm>
          <a:prstGeom prst="roundRect">
            <a:avLst>
              <a:gd name="adj" fmla="val 5837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59750" y="1739801"/>
            <a:ext cx="3126359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C4620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59750" y="214868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Gestão escolar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59750" y="2450902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Matrícula com responsáveis, convites, relatórios, CSV, mensagens e auditoria.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12800" y="3426023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autorização é aplicada no backend: esconder um botão na interface não é considerado controle de acesso.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DISCUSSÃO E RESULTADOS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Resultados verificáveis do MVP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28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49/49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12800" y="2273201"/>
            <a:ext cx="2524633" cy="985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testes automatizados aprovados: domínio, segurança, API e privacidade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5179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179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517900" y="2273201"/>
            <a:ext cx="252463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funcionais com critério de aceite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30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30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223000" y="2273201"/>
            <a:ext cx="252463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requisitos não funcionais com forma de comprovação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28100" y="1565176"/>
            <a:ext cx="2451100" cy="0"/>
          </a:xfrm>
          <a:prstGeom prst="line">
            <a:avLst/>
          </a:prstGeom>
          <a:noFill/>
          <a:ln w="19050">
            <a:solidFill>
              <a:srgbClr val="F2A6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28100" y="1727101"/>
            <a:ext cx="25246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928100" y="2273201"/>
            <a:ext cx="252463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regras de negócio documentadas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3411041"/>
            <a:ext cx="1088339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Regressões de privacidade cobrem diretório mínimo, mensagens e notificações isoladas e CSV sem dados de demonstração. Fonte: pacote final revisado V2.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CONSIDERAÇÕES FINAIS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 que foi entregue, o que falta e como evoluir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15975" y="1558826"/>
            <a:ext cx="339725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73980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Entregue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96950" y="2042021"/>
            <a:ext cx="3126359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 executável com as 5 funcionalidades, documentação completa e suíte de testes.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97375" y="1558826"/>
            <a:ext cx="339725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8350" y="173980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Limitações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8350" y="2042021"/>
            <a:ext cx="3126359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Dados sintéticos; pesquisa de campo classificada como parcial até haver evidência primária; sem homologação nem certificação LGPD.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78775" y="1558826"/>
            <a:ext cx="3397250" cy="1481733"/>
          </a:xfrm>
          <a:prstGeom prst="roundRect">
            <a:avLst>
              <a:gd name="adj" fmla="val 6643"/>
            </a:avLst>
          </a:prstGeom>
          <a:solidFill>
            <a:srgbClr val="FFFFFF"/>
          </a:solidFill>
          <a:ln w="6350">
            <a:solidFill>
              <a:srgbClr val="DD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59750" y="1739801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Próximos passos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59750" y="2042021"/>
            <a:ext cx="3126359" cy="6385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 institucional autorizado, base legal e governança de privacidade, infraestrutura segura e validação jurídica.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1D5F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REFERÊNCIAS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51520"/>
            <a:ext cx="10883392" cy="402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700" b="1" i="0" dirty="0">
                <a:solidFill>
                  <a:srgbClr val="14202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Bibliografia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12800" y="1657251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ASSOCIAÇÃO BRASILEIRA DE NORMAS TÉCNICAS.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NBR 6023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informação e documentação – referências. Rio de Janeiro: ABNT, 2025.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12800" y="2001341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BRASIL.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Lei nº 13.709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 14 de agosto de 2018. Lei Geral de Proteção de Dados Pessoais.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12800" y="2345432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BRASIL. Ministério da Educação.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Resolução CNE/CES nº 7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de 18 de dezembro de 2018. Diretrizes para a Extensão na Educação Superior.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2800" y="2689523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FOUNDATION.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OWASP MASVS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Mobile Application Security Verification Standard. mas.owasp.org/MASVS.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12800" y="3033613"/>
            <a:ext cx="1088339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WORLD WIDE WEB CONSORTIUM. </a:t>
            </a:r>
            <a:r>
              <a:rPr lang="en-US" sz="1150" b="1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WCAG 2.2</a:t>
            </a:r>
            <a:r>
              <a:rPr lang="en-US" sz="1150" dirty="0">
                <a:solidFill>
                  <a:srgbClr val="3341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Web Content Accessibility Guidelines. w3.org/TR/WCAG22.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17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47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AGRADECIMENTOS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63800"/>
            <a:ext cx="1088339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i="0" dirty="0">
                <a:solidFill>
                  <a:srgbClr val="EEF2F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Obrigado.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342900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7DB3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professor Altemar Sales de Oliveira, à instituição e à comunidade escolar que apoiou o projeto.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3934420"/>
            <a:ext cx="10883392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Flavio Gabrig Ferreira · Richardson Conceição Ferreira · Lealdo Coelho Válido de Jesus</a:t>
            </a:r>
            <a:endParaRPr lang="en-US" sz="14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github.com/richaferreira/Safe_Student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 Student · Práticas Extensionistas Integradoras VI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A9B6C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fe Student — Apresentação Final">
  <a:themeElements>
    <a:clrScheme name="Safe Student — Apresentação Final">
      <a:dk1>
        <a:srgbClr val="14202E"/>
      </a:dk1>
      <a:lt1>
        <a:srgbClr val="F3F5F8"/>
      </a:lt1>
      <a:dk2>
        <a:srgbClr val="4C5561"/>
      </a:dk2>
      <a:lt2>
        <a:srgbClr val="DDE0E4"/>
      </a:lt2>
      <a:accent1>
        <a:srgbClr val="1D5FD0"/>
      </a:accent1>
      <a:accent2>
        <a:srgbClr val="C4620A"/>
      </a:accent2>
      <a:accent3>
        <a:srgbClr val="7DB3FF"/>
      </a:accent3>
      <a:accent4>
        <a:srgbClr val="5B6B7C"/>
      </a:accent4>
      <a:accent5>
        <a:srgbClr val="33414F"/>
      </a:accent5>
      <a:accent6>
        <a:srgbClr val="A9B6C6"/>
      </a:accent6>
      <a:hlink>
        <a:srgbClr val="0563C1"/>
      </a:hlink>
      <a:folHlink>
        <a:srgbClr val="954F72"/>
      </a:folHlink>
    </a:clrScheme>
    <a:fontScheme name="Safe Student — Apresentação Final">
      <a:majorFont>
        <a:latin typeface="Manrop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1475</Words>
  <Application>Microsoft Office PowerPoint</Application>
  <PresentationFormat>Widescreen</PresentationFormat>
  <Paragraphs>212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1" baseType="lpstr">
      <vt:lpstr>Arial</vt:lpstr>
      <vt:lpstr>Inter</vt:lpstr>
      <vt:lpstr>Manrope</vt:lpstr>
      <vt:lpstr>Safe Student — Apresentação Final</vt:lpstr>
      <vt:lpstr>Safe Student</vt:lpstr>
      <vt:lpstr>Saber quando o estudante entra e sai da escola é parte da segurança e do acompanhamento familiar</vt:lpstr>
      <vt:lpstr>Três dificuldades comuns no acompanhamento da movimentação escolar</vt:lpstr>
      <vt:lpstr>Demonstrar que identificação simples, registro rastreável e notificação rápida tornam a movimentação escolar mais clara e verificável.</vt:lpstr>
      <vt:lpstr>Pesquisa aplicada, exploratória e descritiva, com validação acadêmica controlada</vt:lpstr>
      <vt:lpstr>Cinco funcionalidades essenciais sustentam o MVP</vt:lpstr>
      <vt:lpstr>Entrada segura por perfil</vt:lpstr>
      <vt:lpstr>Próxima movimentação sempre válida</vt:lpstr>
      <vt:lpstr>Família informada e canal de comunicação</vt:lpstr>
      <vt:lpstr>Visão geral da operação escolar</vt:lpstr>
      <vt:lpstr>Auditoria de eventos críticos</vt:lpstr>
      <vt:lpstr>Arquitetura enxuta, com privacidade por padrão</vt:lpstr>
      <vt:lpstr>Três perfis, cada um com permissões mínimas</vt:lpstr>
      <vt:lpstr>Resultados verificáveis do MVP</vt:lpstr>
      <vt:lpstr>O que foi entregue, o que falta e como evoluir</vt:lpstr>
      <vt:lpstr>Bibliografia</vt:lpstr>
      <vt:lpstr>Obrigado.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 Student — Apresentação Final</dc:title>
  <dc:subject/>
  <dc:creator>Richardson Ferreira</dc:creator>
  <cp:lastModifiedBy>Richardson Ferreira</cp:lastModifiedBy>
  <cp:revision>8</cp:revision>
  <dcterms:created xsi:type="dcterms:W3CDTF">2026-10-06T21:02:09Z</dcterms:created>
  <dcterms:modified xsi:type="dcterms:W3CDTF">2026-10-06T21:16:18Z</dcterms:modified>
</cp:coreProperties>
</file>