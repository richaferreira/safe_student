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569142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Abertura: apresente o grupo, a disciplina e o professor. Frase-chave: o Safe Student é um MVP acadêmico que mostra como requisitos, privacidade e extensão se unem em uma solução aplicável.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Contextualize: escolas lidam com entrada e saída todos os dias. O projeto nasce da extensão universitária e respeita a LGPD desde o desenho.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Problema em três pontos: visibilidade, retrabalho e comunicação dispersa. Todos reduzem a rastreabilidade.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Leia o objetivo com calma: é a hipótese que o MVP busca demonstrar.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Abordagem qualitativa com apoio quantitativo em indicadores de validação acadêmica. Cinco etapas encadeadas.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Três atores: família, portaria e gestão. Complementares fora da contagem: mensagens, exportação CSV, tema claro/escuro e feedback.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Abra pelo login: mostre o seletor de contas de demonstração e explique que o perfil define o que cada pessoa vê.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Demonstração ao vivo: digite SS-ALU001, consulte, registre a saída. Mostre também uma tentativa inválida.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Perfil responsavel@demo.com. Destaque o isolamento: nada de outras famílias.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Perfil gestor@demo.com. Reforce que os valores da tela são dados sintéticos de demonstração.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Mostre o evento CADASTRAR_ALUNO gerado pela matrícula feita na demonstração.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Arquitetura simples de propósito: fácil de auditar. Autorização é verificada no backend. Minimização de dados: sem biometria, geolocalização contínua, push real ou integração com banco corporativo.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Perfis alinhados ao princípio do menor privilégio. Cada perfil enxerga somente o necessário.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 número vem da documentação do pacote final. Antes de apresentar, rode npm test e confirme 49/49.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Honestidade acadêmica: a pesquisa de campo permanece PARCIAL até existir evidência primária real. Essa transparência fortalece o projeto.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Referências extraídas do artigo ABNT do projeto. Acessos em 12 ago. 2026. Links: mas.owasp.org/MASVS e w3.org/TR/WCAG22.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Encerre abrindo para perguntas da banca.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C462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PRÁTICAS EXTENSIONISTAS INTEGRADORAS VI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5400" b="1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 Student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dirty="0">
                <a:solidFill>
                  <a:srgbClr val="1D5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Presença escolar rastreável e comunicação família–escola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514600"/>
            <a:ext cx="6492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Flavio Gabrig Ferreira · 202323361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Richardson Conceição Ferreira · 202323181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Lealdo Coelho Válido de Jesus · 202323215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Prof. Altemar Sales de Oliveira · Saquarema/RJ · 2026</a:t>
            </a:r>
            <a:endParaRPr lang="en-US" sz="2400" dirty="0"/>
          </a:p>
        </p:txBody>
      </p:sp>
      <p:pic>
        <p:nvPicPr>
          <p:cNvPr id="6" name="Image 0" descr="/home/claude/u/ppt/media/image1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2560320"/>
            <a:ext cx="4343400" cy="213969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acadêmico com dados sintéticos — não homologado para produção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C462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INTRODUÇÃO · CONTEXTO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Entrada e saída do estudante fazem parte da segurança e do acompanhamento familiar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9966960" y="63550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24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17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48640" y="1965960"/>
            <a:ext cx="5440680" cy="2011680"/>
          </a:xfrm>
          <a:prstGeom prst="roundRect">
            <a:avLst>
              <a:gd name="adj" fmla="val 4545"/>
            </a:avLst>
          </a:prstGeom>
          <a:solidFill>
            <a:srgbClr val="F4F7FB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2148840"/>
            <a:ext cx="4983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D5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Escola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Registrar a movimentação de forma consistente e consultável.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6172200" y="1965960"/>
            <a:ext cx="5440680" cy="2011680"/>
          </a:xfrm>
          <a:prstGeom prst="roundRect">
            <a:avLst>
              <a:gd name="adj" fmla="val 4545"/>
            </a:avLst>
          </a:prstGeom>
          <a:solidFill>
            <a:srgbClr val="F4F7FB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00800" y="2148840"/>
            <a:ext cx="4983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D5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Família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Informação rápida, sem depender de ligações ou recados.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548640" y="4160520"/>
            <a:ext cx="5440680" cy="2011680"/>
          </a:xfrm>
          <a:prstGeom prst="roundRect">
            <a:avLst>
              <a:gd name="adj" fmla="val 4545"/>
            </a:avLst>
          </a:prstGeom>
          <a:solidFill>
            <a:srgbClr val="F4F7FB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77240" y="4343400"/>
            <a:ext cx="4983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D5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Extensão universitária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Alinhado à Resolução CNE/CES nº 7/2018 e à comunidade escolar.</a:t>
            </a:r>
            <a:endParaRPr lang="en-US" sz="2400" dirty="0"/>
          </a:p>
        </p:txBody>
      </p:sp>
      <p:sp>
        <p:nvSpPr>
          <p:cNvPr id="12" name="Shape 9"/>
          <p:cNvSpPr/>
          <p:nvPr/>
        </p:nvSpPr>
        <p:spPr>
          <a:xfrm>
            <a:off x="6172200" y="4160520"/>
            <a:ext cx="5440680" cy="2011680"/>
          </a:xfrm>
          <a:prstGeom prst="roundRect">
            <a:avLst>
              <a:gd name="adj" fmla="val 4545"/>
            </a:avLst>
          </a:prstGeom>
          <a:solidFill>
            <a:srgbClr val="F4F7FB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00800" y="4343400"/>
            <a:ext cx="4983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D5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Privacidade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LGPD e proteção de crianças e adolescentes guiam o desenho.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C462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INTRODUÇÃO · PROBLEMÁTICA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dificuldades no acompanhamento da movimentação escolar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9966960" y="63550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24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17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48640" y="1965960"/>
            <a:ext cx="3566160" cy="4023360"/>
          </a:xfrm>
          <a:prstGeom prst="roundRect">
            <a:avLst>
              <a:gd name="adj" fmla="val 2564"/>
            </a:avLst>
          </a:prstGeom>
          <a:solidFill>
            <a:srgbClr val="F4F7FB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2148840"/>
            <a:ext cx="3108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D5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Baixa visibilidade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Responsáveis têm pouca clareza sobre entrada e saída.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4297680" y="1965960"/>
            <a:ext cx="3566160" cy="4023360"/>
          </a:xfrm>
          <a:prstGeom prst="roundRect">
            <a:avLst>
              <a:gd name="adj" fmla="val 2564"/>
            </a:avLst>
          </a:prstGeom>
          <a:solidFill>
            <a:srgbClr val="F4F7FB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26280" y="2148840"/>
            <a:ext cx="3108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D5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Registros manuais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Processos manuais geram retrabalho e dificultam relatórios.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8046720" y="1965960"/>
            <a:ext cx="3566160" cy="4023360"/>
          </a:xfrm>
          <a:prstGeom prst="roundRect">
            <a:avLst>
              <a:gd name="adj" fmla="val 2564"/>
            </a:avLst>
          </a:prstGeom>
          <a:solidFill>
            <a:srgbClr val="F4F7FB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75320" y="2148840"/>
            <a:ext cx="3108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D5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Comunicação fragmentada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Família, portaria e gestão usam canais dispersos, sem rastro.</a:t>
            </a:r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C462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INTRODUÇÃO · OBJETIVO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 do projeto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9966960" y="63550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24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17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737360"/>
            <a:ext cx="11064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D5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Demonstrar que identificação simples, registro rastreável e notificação rápida tornam a movimentação escolar mais clara e verificável.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548640" y="4206240"/>
            <a:ext cx="11064240" cy="1463040"/>
          </a:xfrm>
          <a:prstGeom prst="roundRect">
            <a:avLst>
              <a:gd name="adj" fmla="val 6250"/>
            </a:avLst>
          </a:prstGeom>
          <a:solidFill>
            <a:srgbClr val="F4F7FB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2960" y="44348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C462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METODOLOGIA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Pesquisa aplicada, exploratória e descritiva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9966960" y="63550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24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17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48640" y="1783080"/>
            <a:ext cx="594360" cy="594360"/>
          </a:xfrm>
          <a:prstGeom prst="ellipse">
            <a:avLst/>
          </a:prstGeom>
          <a:solidFill>
            <a:srgbClr val="1D5FD0"/>
          </a:solidFill>
          <a:ln w="12700">
            <a:solidFill>
              <a:srgbClr val="1D5FD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7830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9164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Pesquisa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Revisão bibliográfica e análise documental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548640" y="2679192"/>
            <a:ext cx="594360" cy="594360"/>
          </a:xfrm>
          <a:prstGeom prst="ellipse">
            <a:avLst/>
          </a:prstGeom>
          <a:solidFill>
            <a:srgbClr val="1D5FD0"/>
          </a:solidFill>
          <a:ln w="12700">
            <a:solidFill>
              <a:srgbClr val="1D5FD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2679192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1371600" y="2587752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Requisitos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Casos de uso e regras de negócio</a:t>
            </a:r>
            <a:endParaRPr lang="en-US" sz="2400" dirty="0"/>
          </a:p>
        </p:txBody>
      </p:sp>
      <p:sp>
        <p:nvSpPr>
          <p:cNvPr id="12" name="Shape 9"/>
          <p:cNvSpPr/>
          <p:nvPr/>
        </p:nvSpPr>
        <p:spPr>
          <a:xfrm>
            <a:off x="548640" y="3575304"/>
            <a:ext cx="594360" cy="594360"/>
          </a:xfrm>
          <a:prstGeom prst="ellipse">
            <a:avLst/>
          </a:prstGeom>
          <a:solidFill>
            <a:srgbClr val="1D5FD0"/>
          </a:solidFill>
          <a:ln w="12700">
            <a:solidFill>
              <a:srgbClr val="1D5FD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48640" y="3575304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1371600" y="3483864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Modelagem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Prototipação, UML e modelo lógico (DER)</a:t>
            </a:r>
            <a:endParaRPr lang="en-US" sz="2400" dirty="0"/>
          </a:p>
        </p:txBody>
      </p:sp>
      <p:sp>
        <p:nvSpPr>
          <p:cNvPr id="15" name="Shape 12"/>
          <p:cNvSpPr/>
          <p:nvPr/>
        </p:nvSpPr>
        <p:spPr>
          <a:xfrm>
            <a:off x="548640" y="4471416"/>
            <a:ext cx="594360" cy="594360"/>
          </a:xfrm>
          <a:prstGeom prst="ellipse">
            <a:avLst/>
          </a:prstGeom>
          <a:solidFill>
            <a:srgbClr val="1D5FD0"/>
          </a:solidFill>
          <a:ln w="12700">
            <a:solidFill>
              <a:srgbClr val="1D5FD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4471416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600" dirty="0"/>
          </a:p>
        </p:txBody>
      </p:sp>
      <p:sp>
        <p:nvSpPr>
          <p:cNvPr id="17" name="Text 14"/>
          <p:cNvSpPr txBox="1"/>
          <p:nvPr/>
        </p:nvSpPr>
        <p:spPr>
          <a:xfrm>
            <a:off x="1371600" y="4379976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Implementação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Desenvolvimento incremental do MVP</a:t>
            </a:r>
            <a:endParaRPr lang="en-US" sz="2400" dirty="0"/>
          </a:p>
        </p:txBody>
      </p:sp>
      <p:sp>
        <p:nvSpPr>
          <p:cNvPr id="18" name="Shape 15"/>
          <p:cNvSpPr/>
          <p:nvPr/>
        </p:nvSpPr>
        <p:spPr>
          <a:xfrm>
            <a:off x="548640" y="5367528"/>
            <a:ext cx="594360" cy="594360"/>
          </a:xfrm>
          <a:prstGeom prst="ellipse">
            <a:avLst/>
          </a:prstGeom>
          <a:solidFill>
            <a:srgbClr val="1D5FD0"/>
          </a:solidFill>
          <a:ln w="12700">
            <a:solidFill>
              <a:srgbClr val="1D5FD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48640" y="5367528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600" dirty="0"/>
          </a:p>
        </p:txBody>
      </p:sp>
      <p:sp>
        <p:nvSpPr>
          <p:cNvPr id="20" name="Text 17"/>
          <p:cNvSpPr txBox="1"/>
          <p:nvPr/>
        </p:nvSpPr>
        <p:spPr>
          <a:xfrm>
            <a:off x="1371600" y="527608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Validação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Testes e perfis representativos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C462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SOLUÇÃO PROPOSTA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Cinco funcionalidades sustentam o MVP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9966960" y="63550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24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17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48640" y="1783080"/>
            <a:ext cx="594360" cy="594360"/>
          </a:xfrm>
          <a:prstGeom prst="ellipse">
            <a:avLst/>
          </a:prstGeom>
          <a:solidFill>
            <a:srgbClr val="1D5FD0"/>
          </a:solidFill>
          <a:ln w="12700">
            <a:solidFill>
              <a:srgbClr val="1D5FD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7830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9164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Autenticação e perfis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Acesso e operações controlados por perfil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548640" y="2679192"/>
            <a:ext cx="594360" cy="594360"/>
          </a:xfrm>
          <a:prstGeom prst="ellipse">
            <a:avLst/>
          </a:prstGeom>
          <a:solidFill>
            <a:srgbClr val="1D5FD0"/>
          </a:solidFill>
          <a:ln w="12700">
            <a:solidFill>
              <a:srgbClr val="1D5FD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2679192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1371600" y="2587752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Vínculo aluno–responsável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Família vê apenas estudantes vinculados</a:t>
            </a:r>
            <a:endParaRPr lang="en-US" sz="2400" dirty="0"/>
          </a:p>
        </p:txBody>
      </p:sp>
      <p:sp>
        <p:nvSpPr>
          <p:cNvPr id="12" name="Shape 9"/>
          <p:cNvSpPr/>
          <p:nvPr/>
        </p:nvSpPr>
        <p:spPr>
          <a:xfrm>
            <a:off x="548640" y="3575304"/>
            <a:ext cx="594360" cy="594360"/>
          </a:xfrm>
          <a:prstGeom prst="ellipse">
            <a:avLst/>
          </a:prstGeom>
          <a:solidFill>
            <a:srgbClr val="1D5FD0"/>
          </a:solidFill>
          <a:ln w="12700">
            <a:solidFill>
              <a:srgbClr val="1D5FD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48640" y="3575304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1371600" y="3483864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Entrada e saída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Registro por QR/token simulado, em sequência válida</a:t>
            </a:r>
            <a:endParaRPr lang="en-US" sz="2400" dirty="0"/>
          </a:p>
        </p:txBody>
      </p:sp>
      <p:sp>
        <p:nvSpPr>
          <p:cNvPr id="15" name="Shape 12"/>
          <p:cNvSpPr/>
          <p:nvPr/>
        </p:nvSpPr>
        <p:spPr>
          <a:xfrm>
            <a:off x="548640" y="4471416"/>
            <a:ext cx="594360" cy="594360"/>
          </a:xfrm>
          <a:prstGeom prst="ellipse">
            <a:avLst/>
          </a:prstGeom>
          <a:solidFill>
            <a:srgbClr val="1D5FD0"/>
          </a:solidFill>
          <a:ln w="12700">
            <a:solidFill>
              <a:srgbClr val="1D5FD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4471416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600" dirty="0"/>
          </a:p>
        </p:txBody>
      </p:sp>
      <p:sp>
        <p:nvSpPr>
          <p:cNvPr id="17" name="Text 14"/>
          <p:cNvSpPr txBox="1"/>
          <p:nvPr/>
        </p:nvSpPr>
        <p:spPr>
          <a:xfrm>
            <a:off x="1371600" y="4379976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Notificação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Aviso automático ao responsável vinculado</a:t>
            </a:r>
            <a:endParaRPr lang="en-US" sz="2400" dirty="0"/>
          </a:p>
        </p:txBody>
      </p:sp>
      <p:sp>
        <p:nvSpPr>
          <p:cNvPr id="18" name="Shape 15"/>
          <p:cNvSpPr/>
          <p:nvPr/>
        </p:nvSpPr>
        <p:spPr>
          <a:xfrm>
            <a:off x="548640" y="5367528"/>
            <a:ext cx="594360" cy="594360"/>
          </a:xfrm>
          <a:prstGeom prst="ellipse">
            <a:avLst/>
          </a:prstGeom>
          <a:solidFill>
            <a:srgbClr val="1D5FD0"/>
          </a:solidFill>
          <a:ln w="12700">
            <a:solidFill>
              <a:srgbClr val="1D5FD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48640" y="5367528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600" dirty="0"/>
          </a:p>
        </p:txBody>
      </p:sp>
      <p:sp>
        <p:nvSpPr>
          <p:cNvPr id="20" name="Text 17"/>
          <p:cNvSpPr txBox="1"/>
          <p:nvPr/>
        </p:nvSpPr>
        <p:spPr>
          <a:xfrm>
            <a:off x="1371600" y="527608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Rastreabilidade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Histórico, relatório e auditoria</a:t>
            </a:r>
            <a:endParaRPr lang="en-US" sz="2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C462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· ACESSO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5486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Entrada segura por perfil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9966960" y="63550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24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17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468880"/>
            <a:ext cx="54864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Credenciais institucionais e convite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Senhas com scrypt e sessão com </a:t>
            </a:r>
            <a:r>
              <a:rPr lang="en-US" sz="2400" dirty="0" err="1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expiração</a:t>
            </a:r>
            <a:endParaRPr lang="en-US" sz="2400" dirty="0"/>
          </a:p>
        </p:txBody>
      </p:sp>
      <p:pic>
        <p:nvPicPr>
          <p:cNvPr id="7" name="Image 0" descr="/home/claude/u/ppt/media/image1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2613624"/>
            <a:ext cx="5349240" cy="263659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C462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· PORTARIA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5486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Próxima movimentação sempre válida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9966960" y="63550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24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17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468880"/>
            <a:ext cx="54864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ou QR identifica o estudante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Sequência entrada → saída garantida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Movimentações recentes ao lado</a:t>
            </a:r>
            <a:endParaRPr lang="en-US" sz="2400" dirty="0"/>
          </a:p>
        </p:txBody>
      </p:sp>
      <p:pic>
        <p:nvPicPr>
          <p:cNvPr id="7" name="Image 0" descr="/home/claude/u/ppt/media/image2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922240"/>
            <a:ext cx="5349240" cy="40193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C462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· RESPONSÁVEL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5486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Família informada e canal de comunicação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9966960" y="63550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24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17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468880"/>
            <a:ext cx="54864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Vê só os estudantes vinculados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Notificações internas por evento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Mensagens só entre perfis permitidos</a:t>
            </a:r>
            <a:endParaRPr lang="en-US" sz="2400" dirty="0"/>
          </a:p>
        </p:txBody>
      </p:sp>
      <p:pic>
        <p:nvPicPr>
          <p:cNvPr id="7" name="Image 0" descr="/home/claude/u/ppt/media/image3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922240"/>
            <a:ext cx="5349240" cy="40193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C462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· GESTÃO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5486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Visão geral da operação escolar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9966960" y="63550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24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17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468880"/>
            <a:ext cx="54864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Indicadores, pendências e resumo por turma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Atalhos para matrícula e </a:t>
            </a:r>
            <a:r>
              <a:rPr lang="en-US" sz="2400" dirty="0" err="1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relatórios</a:t>
            </a:r>
            <a:endParaRPr lang="en-US" sz="2400" dirty="0"/>
          </a:p>
        </p:txBody>
      </p:sp>
      <p:pic>
        <p:nvPicPr>
          <p:cNvPr id="7" name="Image 0" descr="/home/claude/u/ppt/media/image4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2046" y="1737360"/>
            <a:ext cx="4263869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C462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· GOVERNANÇA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0484"/>
            <a:ext cx="5486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Auditoria de eventos críticos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9966960" y="63550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24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17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468880"/>
            <a:ext cx="54864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Registro pesquisável de cada operação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Filtros por data, ação e </a:t>
            </a:r>
            <a:r>
              <a:rPr lang="en-US" sz="2400" dirty="0" err="1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usuário</a:t>
            </a:r>
            <a:endParaRPr lang="en-US" sz="2400" dirty="0"/>
          </a:p>
        </p:txBody>
      </p:sp>
      <p:pic>
        <p:nvPicPr>
          <p:cNvPr id="7" name="Image 0" descr="/home/claude/u/ppt/media/image5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922240"/>
            <a:ext cx="5349240" cy="40193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C462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SOLUÇÃO PROPOSTA · ARQUITETURA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Arquitetura enxuta, com privacidade por padrão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9966960" y="63550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24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17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48640" y="1554480"/>
            <a:ext cx="5440680" cy="1783080"/>
          </a:xfrm>
          <a:prstGeom prst="roundRect">
            <a:avLst>
              <a:gd name="adj" fmla="val 5128"/>
            </a:avLst>
          </a:prstGeom>
          <a:solidFill>
            <a:srgbClr val="F4F7FB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737360"/>
            <a:ext cx="4983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D5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Interface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HTML, CSS e JavaScript, sem framework.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6172200" y="1554480"/>
            <a:ext cx="5440680" cy="1783080"/>
          </a:xfrm>
          <a:prstGeom prst="roundRect">
            <a:avLst>
              <a:gd name="adj" fmla="val 5128"/>
            </a:avLst>
          </a:prstGeom>
          <a:solidFill>
            <a:srgbClr val="F4F7FB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00800" y="1737360"/>
            <a:ext cx="4983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D5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Servidor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Node.js 18+ com módulos nativos: http, fs e crypto.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548640" y="3520440"/>
            <a:ext cx="5440680" cy="1783080"/>
          </a:xfrm>
          <a:prstGeom prst="roundRect">
            <a:avLst>
              <a:gd name="adj" fmla="val 5128"/>
            </a:avLst>
          </a:prstGeom>
          <a:solidFill>
            <a:srgbClr val="F4F7FB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77240" y="3703320"/>
            <a:ext cx="4983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D5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Dados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SQLite com migrations e seed sintética versionada.</a:t>
            </a:r>
            <a:endParaRPr lang="en-US" sz="2400" dirty="0"/>
          </a:p>
        </p:txBody>
      </p:sp>
      <p:sp>
        <p:nvSpPr>
          <p:cNvPr id="12" name="Shape 9"/>
          <p:cNvSpPr/>
          <p:nvPr/>
        </p:nvSpPr>
        <p:spPr>
          <a:xfrm>
            <a:off x="6172200" y="3520440"/>
            <a:ext cx="5440680" cy="1783080"/>
          </a:xfrm>
          <a:prstGeom prst="roundRect">
            <a:avLst>
              <a:gd name="adj" fmla="val 5128"/>
            </a:avLst>
          </a:prstGeom>
          <a:solidFill>
            <a:srgbClr val="F4F7FB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00800" y="3703320"/>
            <a:ext cx="4983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D5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Segurança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scrypt, sessões com expiração e autorização no backend.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5669280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C462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Minimização de dados: sem biometria, geolocalização contínua ou push real.</a:t>
            </a:r>
            <a:endParaRPr lang="en-US" sz="2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C462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SOLUÇÃO PROPOSTA · PERFIS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perfis, permissões mínimas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9966960" y="63550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24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17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48640" y="1554480"/>
            <a:ext cx="3566160" cy="3566160"/>
          </a:xfrm>
          <a:prstGeom prst="roundRect">
            <a:avLst>
              <a:gd name="adj" fmla="val 2564"/>
            </a:avLst>
          </a:prstGeom>
          <a:solidFill>
            <a:srgbClr val="F4F7FB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737360"/>
            <a:ext cx="31089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D5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Família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Responsável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Consulta só estudantes vinculados e recebe notificações.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4297680" y="1554480"/>
            <a:ext cx="3566160" cy="3566160"/>
          </a:xfrm>
          <a:prstGeom prst="roundRect">
            <a:avLst>
              <a:gd name="adj" fmla="val 2564"/>
            </a:avLst>
          </a:prstGeom>
          <a:solidFill>
            <a:srgbClr val="F4F7FB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26280" y="1737360"/>
            <a:ext cx="31089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D5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Operação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Portaria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Localiza o estudante por token ou QR e registra a movimentação.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8046720" y="1554480"/>
            <a:ext cx="3566160" cy="3566160"/>
          </a:xfrm>
          <a:prstGeom prst="roundRect">
            <a:avLst>
              <a:gd name="adj" fmla="val 2564"/>
            </a:avLst>
          </a:prstGeom>
          <a:solidFill>
            <a:srgbClr val="F4F7FB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75320" y="1737360"/>
            <a:ext cx="31089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D5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escolar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Matrícula, convites, relatórios, CSV, mensagens e auditoria.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5349240"/>
            <a:ext cx="9326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C462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Autorização no backend: esconder um botão não é controle de acesso.</a:t>
            </a:r>
            <a:endParaRPr lang="en-US" sz="2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C462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DISCUSSÃO E RESULTADOS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Resultados verificáveis do MVP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9966960" y="63550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24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17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48640" y="1645920"/>
            <a:ext cx="2651760" cy="2651760"/>
          </a:xfrm>
          <a:prstGeom prst="roundRect">
            <a:avLst>
              <a:gd name="adj" fmla="val 3448"/>
            </a:avLst>
          </a:prstGeom>
          <a:solidFill>
            <a:srgbClr val="F4F7FB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7830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400" b="1" dirty="0">
                <a:solidFill>
                  <a:srgbClr val="1D5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49/49</a:t>
            </a:r>
            <a:endParaRPr lang="en-US" sz="44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697480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testes automatizados aprovados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3337560" y="1645920"/>
            <a:ext cx="2651760" cy="2651760"/>
          </a:xfrm>
          <a:prstGeom prst="roundRect">
            <a:avLst>
              <a:gd name="adj" fmla="val 3448"/>
            </a:avLst>
          </a:prstGeom>
          <a:solidFill>
            <a:srgbClr val="F4F7FB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520440" y="17830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400" b="1" dirty="0">
                <a:solidFill>
                  <a:srgbClr val="1D5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4400" dirty="0"/>
          </a:p>
        </p:txBody>
      </p:sp>
      <p:sp>
        <p:nvSpPr>
          <p:cNvPr id="11" name="Text 8"/>
          <p:cNvSpPr txBox="1"/>
          <p:nvPr/>
        </p:nvSpPr>
        <p:spPr>
          <a:xfrm>
            <a:off x="3520440" y="2697480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requisitos funcionais</a:t>
            </a:r>
            <a:endParaRPr lang="en-US" sz="2400" dirty="0"/>
          </a:p>
        </p:txBody>
      </p:sp>
      <p:sp>
        <p:nvSpPr>
          <p:cNvPr id="12" name="Shape 9"/>
          <p:cNvSpPr/>
          <p:nvPr/>
        </p:nvSpPr>
        <p:spPr>
          <a:xfrm>
            <a:off x="6126480" y="1645920"/>
            <a:ext cx="2651760" cy="2651760"/>
          </a:xfrm>
          <a:prstGeom prst="roundRect">
            <a:avLst>
              <a:gd name="adj" fmla="val 3448"/>
            </a:avLst>
          </a:prstGeom>
          <a:solidFill>
            <a:srgbClr val="F4F7FB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309360" y="17830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400" b="1" dirty="0">
                <a:solidFill>
                  <a:srgbClr val="1D5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4400" dirty="0"/>
          </a:p>
        </p:txBody>
      </p:sp>
      <p:sp>
        <p:nvSpPr>
          <p:cNvPr id="14" name="Text 11"/>
          <p:cNvSpPr txBox="1"/>
          <p:nvPr/>
        </p:nvSpPr>
        <p:spPr>
          <a:xfrm>
            <a:off x="6309360" y="2697480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requisitos não funcionais</a:t>
            </a:r>
            <a:endParaRPr lang="en-US" sz="2400" dirty="0"/>
          </a:p>
        </p:txBody>
      </p:sp>
      <p:sp>
        <p:nvSpPr>
          <p:cNvPr id="15" name="Shape 12"/>
          <p:cNvSpPr/>
          <p:nvPr/>
        </p:nvSpPr>
        <p:spPr>
          <a:xfrm>
            <a:off x="8915400" y="1645920"/>
            <a:ext cx="2651760" cy="2651760"/>
          </a:xfrm>
          <a:prstGeom prst="roundRect">
            <a:avLst>
              <a:gd name="adj" fmla="val 3448"/>
            </a:avLst>
          </a:prstGeom>
          <a:solidFill>
            <a:srgbClr val="F4F7FB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098280" y="17830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400" b="1" dirty="0">
                <a:solidFill>
                  <a:srgbClr val="1D5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4400" dirty="0"/>
          </a:p>
        </p:txBody>
      </p:sp>
      <p:sp>
        <p:nvSpPr>
          <p:cNvPr id="17" name="Text 14"/>
          <p:cNvSpPr txBox="1"/>
          <p:nvPr/>
        </p:nvSpPr>
        <p:spPr>
          <a:xfrm>
            <a:off x="9098280" y="2697480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regras de negócio documentadas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4572000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2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C462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CONSIDERAÇÕES FINAIS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foi entregue, o que falta e como evoluir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9966960" y="63550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24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17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48640" y="1920240"/>
            <a:ext cx="3566160" cy="4114800"/>
          </a:xfrm>
          <a:prstGeom prst="roundRect">
            <a:avLst>
              <a:gd name="adj" fmla="val 2564"/>
            </a:avLst>
          </a:prstGeom>
          <a:solidFill>
            <a:srgbClr val="F4F7FB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2103120"/>
            <a:ext cx="31089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D5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Entregue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executável com 5 funcionalidades, documentação e testes.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4297680" y="1920240"/>
            <a:ext cx="3566160" cy="4114800"/>
          </a:xfrm>
          <a:prstGeom prst="roundRect">
            <a:avLst>
              <a:gd name="adj" fmla="val 2564"/>
            </a:avLst>
          </a:prstGeom>
          <a:solidFill>
            <a:srgbClr val="F4F7FB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26280" y="2103120"/>
            <a:ext cx="31089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D5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Limitações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Dados sintéticos, pesquisa de campo parcial, sem homologação nem certificação LGPD.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8046720" y="1920240"/>
            <a:ext cx="3566160" cy="4114800"/>
          </a:xfrm>
          <a:prstGeom prst="roundRect">
            <a:avLst>
              <a:gd name="adj" fmla="val 2564"/>
            </a:avLst>
          </a:prstGeom>
          <a:solidFill>
            <a:srgbClr val="F4F7FB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75320" y="2103120"/>
            <a:ext cx="31089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D5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Próximos passos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Piloto autorizado, governança de privacidade, infraestrutura segura e validação jurídica.</a:t>
            </a:r>
            <a:endParaRPr lang="en-US" sz="2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C462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REFERÊNCIAS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Bibliografia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9966960" y="63550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24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17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463040"/>
            <a:ext cx="110642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2400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ASSOCIAÇÃO BRASILEIRA DE NORMAS TÉCNICAS. NBR 6023: informação e documentação – referências. Rio de Janeiro: ABNT, 2025.</a:t>
            </a:r>
            <a:endParaRPr lang="en-US" sz="24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2400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BRASIL. Lei nº 13.709, de 14 de agosto de 2018. Lei Geral de Proteção de Dados Pessoais.</a:t>
            </a:r>
            <a:endParaRPr lang="en-US" sz="24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2400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BRASIL. Ministério da Educação. Resolução CNE/CES nº 7, de 18 de dezembro de 2018. Diretrizes para a Extensão na Educação Superior.</a:t>
            </a:r>
            <a:endParaRPr lang="en-US" sz="24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2400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OWASP FOUNDATION. OWASP MASVS: Mobile Application Security Verification Standard.</a:t>
            </a:r>
            <a:endParaRPr lang="en-US" sz="24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2400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WORLD WIDE WEB CONSORTIUM. WCAG 2.2: Web Content Accessibility Guidelines.</a:t>
            </a:r>
            <a:endParaRPr lang="en-US" sz="2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C462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AGRADECIMENTOS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Obrigado.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9966960" y="63550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24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17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920240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dirty="0">
                <a:solidFill>
                  <a:srgbClr val="142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Ao professor Altemar Sales de Oliveira, à instituição e à comunidade escolar que apoiou o projeto.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4747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Flavio Gabrig Ferreira · Richardson Conceição Ferreira · Lealdo Coelho Válido de Jesus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754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1D5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github.com/richaferreira/Safe_Student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1165</Words>
  <Application>Microsoft Office PowerPoint</Application>
  <PresentationFormat>Widescreen</PresentationFormat>
  <Paragraphs>188</Paragraphs>
  <Slides>17</Slides>
  <Notes>17</Notes>
  <HiddenSlides>0</HiddenSlides>
  <MMClips>0</MMClips>
  <ScaleCrop>false</ScaleCrop>
  <HeadingPairs>
    <vt:vector size="6" baseType="variant">
      <vt:variant>
        <vt:lpstr>Fontes usadas</vt:lpstr>
      </vt:variant>
      <vt:variant>
        <vt:i4>1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17</vt:i4>
      </vt:variant>
    </vt:vector>
  </HeadingPairs>
  <TitlesOfParts>
    <vt:vector size="19" baseType="lpstr">
      <vt:lpstr>Arial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Richardson Ferreira</cp:lastModifiedBy>
  <cp:revision>3</cp:revision>
  <dcterms:created xsi:type="dcterms:W3CDTF">2026-10-06T22:29:49Z</dcterms:created>
  <dcterms:modified xsi:type="dcterms:W3CDTF">2026-10-06T22:47:01Z</dcterms:modified>
</cp:coreProperties>
</file>