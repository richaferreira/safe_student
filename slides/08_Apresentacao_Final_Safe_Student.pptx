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4497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apresente o grupo, a disciplina e o professor. Frase-chave: o Safe Student é um MVP acadêmico que mostra como requisitos, privacidade e extensão se unem em uma solução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Contextualize: escolas lidam com entrada e saída todos os dias. O projeto nasce da extensão universitária e respeita a LGPD desde o desenho.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em três pontos: visibilidade, retrabalho e comunicação dispersa. Todos reduzem a rastreabilidade.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 objetivo com calma: é a hipótese que o MVP busca demonstrar.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Abordagem qualitativa com apoio quantitativo em indicadores de validação acadêmica. Cinco etapas encadeadas.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atores: família, portaria e gestão. Complementares fora da contagem: mensagens, exportação CSV, tema claro/escuro e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pelo login: mostre o seletor de contas de demonstração e explique que o perfil define o que cada pessoa vê.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Demonstração ao vivo: digite SS-ALU001, consulte, registre a saída. Mostre também uma tentativa inválida.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Perfil responsavel@demo.com. Destaque o isolamento: nada de outras famílias.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Perfil gestor@demo.com. Reforce que os valores da tela são dados sintéticos de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evento CADASTRAR_ALUNO gerado pela matrícula feita na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 simples de propósito: fácil de auditar. Autorização é verificada no backend. Minimização de dados: sem biometria, geolocalização contínua, push real ou integração com banco corporativo.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Perfis alinhados ao princípio do menor privilégio. Cada perfil enxerga somente o necessário.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número vem da documentação do pacote final. Antes de apresentar, rode npm test e confirme 49/49.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Honestidade acadêmica: a pesquisa de campo permanece PARCIAL até existir evidência primária real. Essa transparência fortalece 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extraídas do artigo ABNT do projeto. Acessos em 12 ago. 2026. Links: mas.owasp.org/MASVS e w3.org/TR/WCAG22.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abrindo para perguntas da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8593834A-C8E5-1FBD-CC80-D48CCBCE32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PRÁTICAS EXTENSIONISTAS INTEGRADORAS VI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Student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8FB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 escolar rastreável e comunicação família e escola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6492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Flavio Gabrig Ferreira, 202323361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Richardson Conceição Ferreira, 202323181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Lealdo Coelho Válido de Jesus, 202323215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A9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Altemar Sales de Oliveira, Saquarema/RJ, 2026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A9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acadêmico com dados sintéticos, não homologado para produção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04F13E4B-E63A-E555-EF5B-C2C0CEC0047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810512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INTRODUÇÃO: CONTEXTO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e saída do estudante fazem parte da segurança e do acompanhamento familiar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6355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17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1488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a movimentação de forma consistente e consultável.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21488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rápida, sem depender de ligações ou recados.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416052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3434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Extensão universitária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Alinhado à Resolução CNE/CES nº 7/2018 e à comunidade escolar.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172200" y="416052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43434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 e proteção de crianças e adolescentes guiam o desenho.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92800291-4E50-9851-5DA4-3FCA754C17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810512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INTRODUÇÃO: PROBLEMÁTICA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dificuldades no acompanhamento da movimentação escolar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6355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17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148840"/>
            <a:ext cx="3063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Baixa visibilidade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Responsáveis têm pouca clareza sobre entrada e saída.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0" y="2148840"/>
            <a:ext cx="3063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Registros manuais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manuais geram retrabalho e dificultam relatórios.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046720" y="196596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2148840"/>
            <a:ext cx="3063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Comunicação fragmentada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Família, portaria e gestão usam canais dispersos, sem rastro.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9A274BA7-188F-8D76-B0F4-918E2D4C4B7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444752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INTRODUÇÃO: OBJETIVO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do projeto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6355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17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Demonstrar que identificação simples, registro rastreável e notificação rápida tornam a movimentação escolar mais clara e verificável.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420624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434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 err="1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Validada</a:t>
            </a: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requisitos, testes automatizados e roteiro funcional com perfis demonstrativos.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3D90C3C2-09DA-0298-F1D5-F732580E8D0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17252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444752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aplicada, exploratória e descritiva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6355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17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94360" cy="594360"/>
          </a:xfrm>
          <a:prstGeom prst="ellipse">
            <a:avLst/>
          </a:prstGeom>
          <a:solidFill>
            <a:srgbClr val="1D5FD0"/>
          </a:solidFill>
          <a:ln w="12700">
            <a:solidFill>
              <a:srgbClr val="1D5F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6916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bibliográfica e análise documental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2679192"/>
            <a:ext cx="594360" cy="594360"/>
          </a:xfrm>
          <a:prstGeom prst="ellipse">
            <a:avLst/>
          </a:prstGeom>
          <a:solidFill>
            <a:srgbClr val="1D5FD0"/>
          </a:solidFill>
          <a:ln w="12700">
            <a:solidFill>
              <a:srgbClr val="1D5F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6791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58775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 e regras de negócio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48640" y="3575304"/>
            <a:ext cx="594360" cy="594360"/>
          </a:xfrm>
          <a:prstGeom prst="ellipse">
            <a:avLst/>
          </a:prstGeom>
          <a:solidFill>
            <a:srgbClr val="1D5FD0"/>
          </a:solidFill>
          <a:ln w="12700">
            <a:solidFill>
              <a:srgbClr val="1D5F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5753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48386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Prototipação, UML e modelo lógico (DER)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548640" y="4471416"/>
            <a:ext cx="594360" cy="594360"/>
          </a:xfrm>
          <a:prstGeom prst="ellipse">
            <a:avLst/>
          </a:prstGeom>
          <a:solidFill>
            <a:srgbClr val="1D5FD0"/>
          </a:solidFill>
          <a:ln w="12700">
            <a:solidFill>
              <a:srgbClr val="1D5FD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4714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4379976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incremental do MVP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548640" y="5367528"/>
            <a:ext cx="594360" cy="594360"/>
          </a:xfrm>
          <a:prstGeom prst="ellipse">
            <a:avLst/>
          </a:prstGeom>
          <a:solidFill>
            <a:srgbClr val="1D5FD0"/>
          </a:solidFill>
          <a:ln w="12700">
            <a:solidFill>
              <a:srgbClr val="1D5FD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367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1371600" y="52760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e perfis representativos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472543B1-59FC-4B39-0EEA-39603C0DD22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444752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PROPOSTA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funcionalidades sustentam o MVP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6355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17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94360" cy="594360"/>
          </a:xfrm>
          <a:prstGeom prst="ellipse">
            <a:avLst/>
          </a:prstGeom>
          <a:solidFill>
            <a:srgbClr val="1D5FD0"/>
          </a:solidFill>
          <a:ln w="12700">
            <a:solidFill>
              <a:srgbClr val="1D5F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6916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e perfis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e operações controlados por perfil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2679192"/>
            <a:ext cx="594360" cy="594360"/>
          </a:xfrm>
          <a:prstGeom prst="ellipse">
            <a:avLst/>
          </a:prstGeom>
          <a:solidFill>
            <a:srgbClr val="1D5FD0"/>
          </a:solidFill>
          <a:ln w="12700">
            <a:solidFill>
              <a:srgbClr val="1D5F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6791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58775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Vínculo entre aluno e responsável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 vê apenas estudantes vinculados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48640" y="3575304"/>
            <a:ext cx="594360" cy="594360"/>
          </a:xfrm>
          <a:prstGeom prst="ellipse">
            <a:avLst/>
          </a:prstGeom>
          <a:solidFill>
            <a:srgbClr val="1D5FD0"/>
          </a:solidFill>
          <a:ln w="12700">
            <a:solidFill>
              <a:srgbClr val="1D5F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5753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48386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e saída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por QR/token simulado, em sequência válida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548640" y="4471416"/>
            <a:ext cx="594360" cy="594360"/>
          </a:xfrm>
          <a:prstGeom prst="ellipse">
            <a:avLst/>
          </a:prstGeom>
          <a:solidFill>
            <a:srgbClr val="1D5FD0"/>
          </a:solidFill>
          <a:ln w="12700">
            <a:solidFill>
              <a:srgbClr val="1D5FD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4714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4379976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Notificação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 automático ao responsável vinculado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548640" y="5367528"/>
            <a:ext cx="594360" cy="594360"/>
          </a:xfrm>
          <a:prstGeom prst="ellipse">
            <a:avLst/>
          </a:prstGeom>
          <a:solidFill>
            <a:srgbClr val="1D5FD0"/>
          </a:solidFill>
          <a:ln w="12700">
            <a:solidFill>
              <a:srgbClr val="1D5FD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367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1371600" y="52760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Histórico, relatório e auditoria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3BCE9AB6-9040-F20B-5422-79A304C7B5D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444752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ACESSO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segura por perfil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6355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17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7744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Credenciais institucionais e convite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Senhas com scrypt e sessão com </a:t>
            </a:r>
            <a:r>
              <a:rPr lang="en-US" sz="2400" dirty="0" err="1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expiração</a:t>
            </a:r>
            <a:endParaRPr lang="en-US" sz="2400" dirty="0"/>
          </a:p>
        </p:txBody>
      </p:sp>
      <p:pic>
        <p:nvPicPr>
          <p:cNvPr id="8" name="Image 0" descr="/home/claude/u/ppt/media/image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555" y="1444751"/>
            <a:ext cx="6524139" cy="44384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BDA77D65-3B02-AEC9-BE77-3599186405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444752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PORTARIA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movimentação sempre válida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6355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17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7744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ou QR identifica o estudante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Sequência de entrada e saída garantida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Movimentações recentes ao lado</a:t>
            </a:r>
            <a:endParaRPr lang="en-US" sz="2400" dirty="0"/>
          </a:p>
        </p:txBody>
      </p:sp>
      <p:pic>
        <p:nvPicPr>
          <p:cNvPr id="8" name="Image 0" descr="/home/claude/u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809" y="1517904"/>
            <a:ext cx="6506886" cy="44236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02779CE6-0310-43EE-2641-573DF9EC6B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444752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RESPONSÁVEL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 informada e canal de comunicação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6355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17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7744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só os estudantes vinculados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 internas por evento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Mensagens só entre perfis permitidos</a:t>
            </a:r>
            <a:endParaRPr lang="en-US" sz="2400" dirty="0"/>
          </a:p>
        </p:txBody>
      </p:sp>
      <p:pic>
        <p:nvPicPr>
          <p:cNvPr id="8" name="Image 0" descr="/home/claude/u/ppt/media/image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1" y="1444752"/>
            <a:ext cx="6156654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73F60F1F-0FEF-93BB-B776-FCC834AE23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444752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GESTÃO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da operação escolar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6355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7744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Indicadores, pendências e resumo por turma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Atalhos para matrícula e relatórios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números são dados fictícios</a:t>
            </a:r>
            <a:endParaRPr lang="en-US" sz="2400" dirty="0"/>
          </a:p>
        </p:txBody>
      </p:sp>
      <p:pic>
        <p:nvPicPr>
          <p:cNvPr id="8" name="Image 0" descr="/home/claude/u/ppt/media/image4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444752"/>
            <a:ext cx="6156655" cy="46817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23674FF8-6001-DB33-21D0-CF34FC5FC0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444752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GOVERNANÇA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de eventos críticos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6355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7744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pesquisável de cada operação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por data, ação e usuário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não lê mensagens privadas</a:t>
            </a:r>
            <a:endParaRPr lang="en-US" sz="2400" dirty="0"/>
          </a:p>
        </p:txBody>
      </p:sp>
      <p:pic>
        <p:nvPicPr>
          <p:cNvPr id="8" name="Image 0" descr="/home/claude/u/ppt/media/image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0687" y="1444752"/>
            <a:ext cx="6481313" cy="44968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9A236B09-37BE-1996-A696-55A676D210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444752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PROPOSTA: ARQUITETURA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enxuta, com privacidade por padrão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6355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7373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e JavaScript, sem framework.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17373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18+ com módulos nativos: http, fs e crypto.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35204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7033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com migrations e seed sintética versionada.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172200" y="35204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37033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scrypt, sessões com expiração e autorização no backend.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6692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Minimização de dados: sem biometria, geolocalização contínua ou push real.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7C444903-9644-8A75-2F9A-3D803EA339B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444752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PROPOSTA: PERFIS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perfis, permissões mínimas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6355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73736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só estudantes vinculados e recebe notificações.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0" y="173736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Portaria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 o estudante por token ou QR e registra a movimentação.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046720" y="155448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173736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escolar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Matrícula, convites, relatórios, CSV, mensagens e auditoria.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3492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autorização é aplicada no backend, não apenas na interface.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A253861B-D539-06DF-E57C-2DB915062C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444752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 E RESULTADOS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verificáveis do MVP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6355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49/49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97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automatizados aprovados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337560" y="16459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6616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2697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funcionais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126480" y="16459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5508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2697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não funcionais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8915400" y="16459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0" y="2697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negócio documentadas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de privacidade cobrem diretório mínimo, mensagens, notificações e CSV.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0A3EEDB6-500B-E8F9-6CEA-CE0142BCA8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810512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CONSIDERAÇÕES FINAIS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entregue, o que falta e como evoluir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6355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103120"/>
            <a:ext cx="3063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Entregue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executável com 5 funcionalidades, documentação e testes.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297680" y="192024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0" y="2103120"/>
            <a:ext cx="3063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sintéticos, pesquisa de campo parcial, sem homologação nem certificação LGPD.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046720" y="192024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2103120"/>
            <a:ext cx="3063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autorizado, governança de privacidade, infraestrutura segura e validação jurídica.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3CFBEE0C-269B-D076-F555-E1F546BBEF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444752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Bibliografia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6355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 BRASILEIRA DE NORMAS TÉCNICAS. NBR 6023: informação e documentação: referências. Rio de Janeiro: ABNT, 2025.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BRASIL. Lei nº 13.709, de 14 de agosto de 2018. Lei Geral de Proteção de Dados Pessoais.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BRASIL. Ministério da Educação. Resolução CNE/CES nº 7, de 18 de dezembro de 2018. Diretrizes para a Extensão na Educação Superior.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FOUNDATION. OWASP MASVS: Mobile Application Security Verification Standard.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WIDE WEB CONSORTIUM. WCAG 2.2: Web Content Accessibility Guidelines.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FD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AGRADECIMENTOS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professor Altemar Sales de Oliveira, à instituição e à comunidade escolar que apoiou o projeto.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A9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Flavio Gabrig Ferreira, Richardson Conceição Ferreira e Lealdo Coelho Válido de Jesus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8FB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github.com/richaferreira/Safe_Student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355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A9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17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 Student">
  <a:themeElements>
    <a:clrScheme name="Safe Student">
      <a:dk1>
        <a:srgbClr val="14202E"/>
      </a:dk1>
      <a:lt1>
        <a:srgbClr val="FFFFFF"/>
      </a:lt1>
      <a:dk2>
        <a:srgbClr val="33414F"/>
      </a:dk2>
      <a:lt2>
        <a:srgbClr val="F4F7FB"/>
      </a:lt2>
      <a:accent1>
        <a:srgbClr val="1D5FD0"/>
      </a:accent1>
      <a:accent2>
        <a:srgbClr val="0B6E70"/>
      </a:accent2>
      <a:accent3>
        <a:srgbClr val="8FB4F5"/>
      </a:accent3>
      <a:accent4>
        <a:srgbClr val="5B6B7C"/>
      </a:accent4>
      <a:accent5>
        <a:srgbClr val="6FD3D0"/>
      </a:accent5>
      <a:accent6>
        <a:srgbClr val="DDE3EA"/>
      </a:accent6>
      <a:hlink>
        <a:srgbClr val="1D5FD0"/>
      </a:hlink>
      <a:folHlink>
        <a:srgbClr val="5B6B7C"/>
      </a:folHlink>
    </a:clrScheme>
    <a:fontScheme name="Safe Stud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1203</Words>
  <Application>Microsoft Office PowerPoint</Application>
  <PresentationFormat>Widescreen</PresentationFormat>
  <Paragraphs>192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9" baseType="lpstr">
      <vt:lpstr>Arial</vt:lpstr>
      <vt:lpstr>Safe Student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Student</dc:title>
  <dc:subject>Práticas Extensionistas Integradoras VI</dc:subject>
  <dc:creator>Flavio Gabrig Ferreira, Richardson Conceição Ferreira, Lealdo Coelho Válido de Jesus</dc:creator>
  <cp:lastModifiedBy>Richardson Ferreira</cp:lastModifiedBy>
  <cp:revision>3</cp:revision>
  <dcterms:created xsi:type="dcterms:W3CDTF">2026-10-06T23:10:18Z</dcterms:created>
  <dcterms:modified xsi:type="dcterms:W3CDTF">2026-10-06T23:25:09Z</dcterms:modified>
</cp:coreProperties>
</file>