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6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apresente o grupo, a disciplina e o professor. Frase-chave: o Safe Student é um MVP acadêmico que mostra como requisitos, privacidade e extensão se unem em uma solução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Contextualize: escolas lidam com entrada e saída todos os dias. O projeto nasce da extensão universitária e respeita a LGPD desde o desenho.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em três pontos: visibilidade, retrabalho e comunicação dispersa. Todos reduzem a rastreabilidade.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objetivo com calma: é a hipótese que o MVP busca demonstrar.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qualitativa com apoio quantitativo em indicadores de validação acadêmica. Cinco etapas encadeadas.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atores: família, portaria e gestão. Mensagens e CSV são complementares para não inflar o escopo.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pelo login: mostre o seletor de contas de demonstração e explique que o perfil define o que cada pessoa vê.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ao vivo: digite SS-ALU001, consulte, registre a saída. Mostre também uma tentativa inválida.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responsavel@demo.com. Destaque o isolamento: nada de outras famílias.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gestor@demo.com. Reforce que os valores da tela são dados sintéticos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evento CADASTRAR_ALUNO gerado pela matrícula feita na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simples de propósito: fácil de auditar. Autorização é verificada no backend, não só na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Camadas do código: cliente, servidor HTTP, serviços e regras, repositórios e SQLite. Autorização no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Perfis alinhados ao princípio do menor privilégio. Cada perfil enxerga somente o necessário.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único diagrama, uma única fronteira. Cada caso de uso é ligado aos atores que realmente participam dele. Histórico, resumo e CSV pertencem a Acompanhar presença; marcar notificação como lida pertence a Consultar notificações.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conceituais: o foco é a responsabilidade de cada entidade. Usuario não é um ator adicional, representa a conta do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Complementa o núcleo de presença com comunicação, auditoria e a coleta de feedback da validação acadêmica.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tabelas reais extraídas da migration 001. Destaque a chave estrangeira com CASCADE, RESTRICT e SET NULL como decisão de integridade.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chaves estrangeiras. A tabela guardian_students é o que impede um responsável de ver aluno de outra família.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Recorte lógico de comunicação, auditoria e feedback. Os nomes seguem o documento de especificação.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 diagrama da esquerda para a direita: Portaria, interface web, API, regras de domínio e persistência.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número aqui vem da documentação do pacote final. Antes de apresentar, rode npm test e confirme 49/49.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acadêmica: a pesquisa de campo permanece PARCIAL até existir evidência primária real. Essa transparência fortalece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extraídas do artigo ABNT do projeto. Acessos em 12 ago.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abrindo para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38820"/>
            <a:ext cx="527050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14141"/>
            <a:ext cx="10566400" cy="4031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38820"/>
            <a:ext cx="527050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14141"/>
            <a:ext cx="10566400" cy="4031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341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acadêmico com dados sintéticos — não homologado para produção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631950"/>
            <a:ext cx="5180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PRÁTICAS EXTENSIONISTAS INTEGRADORAS VI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023070"/>
            <a:ext cx="518007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600" b="1" i="0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 Student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2912070"/>
            <a:ext cx="51800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Presença escolar rastreável e comunicação família–escola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3750270"/>
            <a:ext cx="51800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Flavio Gabrig Ferreira · 202323361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Richardson Conceição Ferreira · 202323181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Lealdo Coelho Válido de Jesus · 202323215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728170"/>
            <a:ext cx="518007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Altemar Sales de Oliveira · Saquarema/RJ · 2026</a:t>
            </a:r>
            <a:endParaRPr lang="en-US" sz="1300" dirty="0"/>
          </a:p>
        </p:txBody>
      </p:sp>
      <p:pic>
        <p:nvPicPr>
          <p:cNvPr id="8" name="Image 0" descr="Tela de login do Safe Student"/>
          <p:cNvPicPr>
            <a:picLocks noChangeAspect="1"/>
          </p:cNvPicPr>
          <p:nvPr/>
        </p:nvPicPr>
        <p:blipFill>
          <a:blip r:embed="rId3"/>
          <a:srcRect l="486" r="486"/>
          <a:stretch/>
        </p:blipFill>
        <p:spPr>
          <a:xfrm>
            <a:off x="6620867" y="2183309"/>
            <a:ext cx="5564684" cy="2769691"/>
          </a:xfrm>
          <a:prstGeom prst="roundRect">
            <a:avLst>
              <a:gd name="adj" fmla="val 3439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6617692" y="2180134"/>
            <a:ext cx="5571034" cy="2776041"/>
          </a:xfrm>
          <a:prstGeom prst="roundRect">
            <a:avLst>
              <a:gd name="adj" fmla="val 3546"/>
            </a:avLst>
          </a:prstGeom>
          <a:noFill/>
          <a:ln w="6350">
            <a:solidFill>
              <a:srgbClr val="27405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· CONTEXTO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Saber quando o estudante entra e sai da escola é parte da segurança e do acompanhamento familiar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Escola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e portaria precisam registrar a movimentação de forma consistente e consultável.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0202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300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Família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8300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Responsáveis querem informação rápida, sem depender de ligações ou recados.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807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905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Extensão universitária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905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alinhado à Resolução CNE/CES nº 7/2018, em interação com a comunidade escolar.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7412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510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Privacidade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510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LGPD (Lei nº 13.709/2018) e proteção de crianças e adolescentes orientam o desenho da solução.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· PROBLEMÁTICA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dificuldades comuns no acompanhamento da movimentação escolar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935956"/>
            <a:ext cx="3397250" cy="1481832"/>
          </a:xfrm>
          <a:prstGeom prst="roundRect">
            <a:avLst>
              <a:gd name="adj" fmla="val 6642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11693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525812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Baixa visibilidade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82803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Responsáveis têm pouca clareza sobre entrada e saída do estudante.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7375" y="1935956"/>
            <a:ext cx="3397250" cy="1481832"/>
          </a:xfrm>
          <a:prstGeom prst="roundRect">
            <a:avLst>
              <a:gd name="adj" fmla="val 6642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350" y="211693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350" y="2525812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Registros manuais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8350" y="282803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manuais geram retrabalho e dificultam relatórios e histórico.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8775" y="1935956"/>
            <a:ext cx="3397250" cy="1481832"/>
          </a:xfrm>
          <a:prstGeom prst="roundRect">
            <a:avLst>
              <a:gd name="adj" fmla="val 6642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9750" y="211693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9750" y="2525812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Comunicação fragmentada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9750" y="282803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Família, portaria e gestão conversam por canais dispersos, sem rastro.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5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DB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· OBJETIVO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51520"/>
            <a:ext cx="10883392" cy="151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Demonstrar que identificação simples, registro rastreável e notificação rápida tornam a movimentação escolar mais clara e verificável.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7695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B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Hipótese do MVP, validada por requisitos, testes automatizados e roteiro funcional com perfis demonstrativos.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Pesquisa aplicada, exploratória e descritiva, com validação acadêmica controlada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935956"/>
            <a:ext cx="19646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11693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525812"/>
            <a:ext cx="1653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Pesquisa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828032"/>
            <a:ext cx="16534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bibliográfica e análise documental.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64755" y="1935956"/>
            <a:ext cx="19647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730" y="211693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45730" y="2525812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45730" y="2828032"/>
            <a:ext cx="1653580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Levantamento, casos de uso e regras de negócio.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13635" y="1935956"/>
            <a:ext cx="19646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610" y="211693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94610" y="2525812"/>
            <a:ext cx="1653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Modelagem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94610" y="2828032"/>
            <a:ext cx="16534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Prototipação, UML e modelo lógico (DER).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2416" y="1935956"/>
            <a:ext cx="19647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391" y="211693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43391" y="2525812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43391" y="282803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incremental do MVP.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11295" y="1935956"/>
            <a:ext cx="19647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2270" y="211693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92270" y="2525812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92270" y="2828032"/>
            <a:ext cx="1653580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de software e validação com perfis representativos.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Cinco funcionalidades essenciais sustentam o MVP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19646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148681"/>
            <a:ext cx="16534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Autenticação e perfis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664222"/>
            <a:ext cx="16534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e operações controlados por perfil.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64755" y="1558826"/>
            <a:ext cx="19647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730" y="173980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45730" y="2148681"/>
            <a:ext cx="1653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Vínculo aluno–responsável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45730" y="266422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Família vê apenas estudantes vinculados.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13635" y="1558826"/>
            <a:ext cx="19646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610" y="173980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94610" y="2148681"/>
            <a:ext cx="1653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Entrada e saída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94610" y="2450902"/>
            <a:ext cx="1653480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por QR/token simulado, em sequência válida.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2416" y="1558826"/>
            <a:ext cx="19647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391" y="173980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43391" y="2148681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Notificação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43391" y="245090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 automático ao responsável vinculado.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11295" y="1558826"/>
            <a:ext cx="19647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2270" y="173980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92270" y="2148681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Rastreabilidade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92270" y="245090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Histórico, relatório e auditoria.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2800" y="343495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 complementares, fora da contagem: mensagens, exportação CSV, tema claro/</a:t>
            </a:r>
            <a:r>
              <a:rPr lang="en-US" sz="1300" dirty="0" err="1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escuro</a:t>
            </a: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feedback.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919857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ACESSO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0977"/>
            <a:ext cx="329641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Entrada segura por perfil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215059"/>
            <a:ext cx="32964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Credenciais institucionais, ativação de conta por convite e contas de demonstração.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3139380"/>
            <a:ext cx="3204210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Senhas com scrypt e sessão com expiração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clara de ambiente de demonstração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812800"/>
            <a:ext cx="6959600" cy="3429000"/>
          </a:xfrm>
          <a:prstGeom prst="roundRect">
            <a:avLst>
              <a:gd name="adj" fmla="val 2963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14" r="-114"/>
          <a:stretch/>
        </p:blipFill>
        <p:spPr>
          <a:xfrm>
            <a:off x="4425950" y="819150"/>
            <a:ext cx="6946900" cy="3416300"/>
          </a:xfrm>
          <a:prstGeom prst="roundRect">
            <a:avLst>
              <a:gd name="adj" fmla="val 2788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815975"/>
            <a:ext cx="6953250" cy="3422650"/>
          </a:xfrm>
          <a:prstGeom prst="roundRect">
            <a:avLst>
              <a:gd name="adj" fmla="val 2876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87227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PORTARIA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78348"/>
            <a:ext cx="3296412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Próxima movimentação sempre válida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445570"/>
            <a:ext cx="32964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ou QR identifica o estudante; o sistema mostra o que fazer.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4121051"/>
            <a:ext cx="320421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entrada → saída garantida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Movimentações recentes ao lado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711200"/>
            <a:ext cx="6959600" cy="5232400"/>
          </a:xfrm>
          <a:prstGeom prst="roundRect">
            <a:avLst>
              <a:gd name="adj" fmla="val 1942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25950" y="717550"/>
            <a:ext cx="6946900" cy="5219700"/>
          </a:xfrm>
          <a:prstGeom prst="roundRect">
            <a:avLst>
              <a:gd name="adj" fmla="val 1825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714375"/>
            <a:ext cx="6953250" cy="5226050"/>
          </a:xfrm>
          <a:prstGeom prst="roundRect">
            <a:avLst>
              <a:gd name="adj" fmla="val 1883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62807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RESPONSÁVEL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53927"/>
            <a:ext cx="3296412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Família informada e canal de comunicação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321149"/>
            <a:ext cx="32964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Responsável vê só os estudantes vinculados e recebe avisos de entrada e saída.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4245471"/>
            <a:ext cx="320421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Notificações internas por evento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apenas entre perfis permitidos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711200"/>
            <a:ext cx="6959600" cy="5232400"/>
          </a:xfrm>
          <a:prstGeom prst="roundRect">
            <a:avLst>
              <a:gd name="adj" fmla="val 1942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25950" y="717550"/>
            <a:ext cx="6946900" cy="5219700"/>
          </a:xfrm>
          <a:prstGeom prst="roundRect">
            <a:avLst>
              <a:gd name="adj" fmla="val 1825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714375"/>
            <a:ext cx="6953250" cy="5226050"/>
          </a:xfrm>
          <a:prstGeom prst="roundRect">
            <a:avLst>
              <a:gd name="adj" fmla="val 1883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93218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GESTÃO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84338"/>
            <a:ext cx="523240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Visão geral da operação escolar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388420"/>
            <a:ext cx="52324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de movimentação, pendências, resumo por turma e linha do tempo.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4063901"/>
            <a:ext cx="51401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Atalhos para matrícula, portaria e relatórios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números são dados fictícios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99200" y="711200"/>
            <a:ext cx="5080000" cy="5232400"/>
          </a:xfrm>
          <a:prstGeom prst="roundRect">
            <a:avLst>
              <a:gd name="adj" fmla="val 2000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t="-34" b="-34"/>
          <a:stretch/>
        </p:blipFill>
        <p:spPr>
          <a:xfrm>
            <a:off x="6305550" y="717550"/>
            <a:ext cx="5067300" cy="5219700"/>
          </a:xfrm>
          <a:prstGeom prst="roundRect">
            <a:avLst>
              <a:gd name="adj" fmla="val 188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302375" y="714375"/>
            <a:ext cx="5073650" cy="5226050"/>
          </a:xfrm>
          <a:prstGeom prst="roundRect">
            <a:avLst>
              <a:gd name="adj" fmla="val 1940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68798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GOVERNANÇA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59918"/>
            <a:ext cx="329641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Auditoria de eventos críticos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263999"/>
            <a:ext cx="32964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operação relevante gera um registro pesquisável e rastreável.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3939480"/>
            <a:ext cx="320421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por data, ação e usuário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não lê mensagens privadas de terceiros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711200"/>
            <a:ext cx="6959600" cy="5232400"/>
          </a:xfrm>
          <a:prstGeom prst="roundRect">
            <a:avLst>
              <a:gd name="adj" fmla="val 1942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25950" y="717550"/>
            <a:ext cx="6946900" cy="5219700"/>
          </a:xfrm>
          <a:prstGeom prst="roundRect">
            <a:avLst>
              <a:gd name="adj" fmla="val 1825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714375"/>
            <a:ext cx="6953250" cy="5226050"/>
          </a:xfrm>
          <a:prstGeom prst="roundRect">
            <a:avLst>
              <a:gd name="adj" fmla="val 1883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 · ARQUITETURA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Arquitetura enxuta, com privacidade por padrão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042021"/>
            <a:ext cx="220414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 e JavaScript sem framework.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0202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300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83000" y="2042021"/>
            <a:ext cx="220414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18+ com módulos nativos: http, fs e crypto.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807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905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9050" y="2042021"/>
            <a:ext cx="220414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com migrations; seed sintética versionada.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7412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510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5100" y="2042021"/>
            <a:ext cx="2204149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Senhas com scrypt, sessões com expiração e autorização por perfil no backend.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301714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Minimização de dados: sem biometria, geolocalização contínua, push real ou integração com banco corporativo.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 · COMPONENTES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499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Diagrama de </a:t>
            </a:r>
            <a:r>
              <a:rPr lang="en-US" sz="2400" b="1" i="0" dirty="0" err="1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componentes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812800" y="1412180"/>
            <a:ext cx="105664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967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Redesenhado a partir da estrutura atual do código: o diagrama anterior ainda mostrava persistência em JSON.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 · PERFIS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perfis, cada um com permissões mínimas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339725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Família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14868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450902"/>
            <a:ext cx="3126359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apenas estudantes vinculados, recebe notificações e conversa com a escola.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7375" y="1558826"/>
            <a:ext cx="339725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350" y="173980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350" y="214868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Portaria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8350" y="245090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 o estudante por token ou QR e registra a próxima movimentação válida.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8775" y="1558826"/>
            <a:ext cx="339725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9750" y="173980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9750" y="214868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 escolar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9750" y="245090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Matrícula com responsáveis, convites, relatórios, CSV, mensagens e auditoria.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342602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autorização é aplicada no backend: esconder um botão na interface não é considerado controle de acesso.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00187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· CASOS DE USO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8607"/>
            <a:ext cx="340106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Diagrama unificado de casos de uso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1914227"/>
            <a:ext cx="340106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1 do documento de especificação (doc. 02).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7382" y="2541488"/>
            <a:ext cx="3308858" cy="2016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atores funcionais: Responsável, Portaria e Gestão Escolar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Dez casos de uso, cada um aparece uma única vez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e saída formam “Registrar presença”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existe ator genérico “Usuário”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70400" y="609600"/>
            <a:ext cx="6604000" cy="40132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</p:spPr>
      </p:sp>
      <p:pic>
        <p:nvPicPr>
          <p:cNvPr id="7" name="Image 0" descr="Diagrama UML"/>
          <p:cNvPicPr>
            <a:picLocks noChangeAspect="1"/>
          </p:cNvPicPr>
          <p:nvPr/>
        </p:nvPicPr>
        <p:blipFill>
          <a:blip r:embed="rId3"/>
          <a:srcRect l="-93" r="-93"/>
          <a:stretch/>
        </p:blipFill>
        <p:spPr>
          <a:xfrm>
            <a:off x="4476750" y="615950"/>
            <a:ext cx="6591300" cy="4000500"/>
          </a:xfrm>
          <a:prstGeom prst="roundRect">
            <a:avLst>
              <a:gd name="adj" fmla="val 2381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73575" y="612775"/>
            <a:ext cx="6597650" cy="4006850"/>
          </a:xfrm>
          <a:prstGeom prst="roundRect">
            <a:avLst>
              <a:gd name="adj" fmla="val 2456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· UML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88020"/>
            <a:ext cx="300863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Diagrama de classes: núcleo de presença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2158901"/>
            <a:ext cx="300863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2 do documento de especificação (doc. 02).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7382" y="2786162"/>
            <a:ext cx="2916428" cy="2016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 com perfil Responsável, Portaria ou Gestão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pertence a uma Turma e é acompanhado por responsáveis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RegistroPresença e Notificação ligados ao aluno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89400" y="654844"/>
            <a:ext cx="6985000" cy="4076700"/>
          </a:xfrm>
          <a:prstGeom prst="roundRect">
            <a:avLst>
              <a:gd name="adj" fmla="val 2492"/>
            </a:avLst>
          </a:prstGeom>
          <a:solidFill>
            <a:srgbClr val="FFFFFF"/>
          </a:solidFill>
          <a:ln/>
        </p:spPr>
      </p:sp>
      <p:pic>
        <p:nvPicPr>
          <p:cNvPr id="7" name="Image 0" descr="Diagrama UML"/>
          <p:cNvPicPr>
            <a:picLocks noChangeAspect="1"/>
          </p:cNvPicPr>
          <p:nvPr/>
        </p:nvPicPr>
        <p:blipFill>
          <a:blip r:embed="rId3"/>
          <a:srcRect l="-78" r="-78"/>
          <a:stretch/>
        </p:blipFill>
        <p:spPr>
          <a:xfrm>
            <a:off x="4095750" y="661194"/>
            <a:ext cx="6972300" cy="4064000"/>
          </a:xfrm>
          <a:prstGeom prst="roundRect">
            <a:avLst>
              <a:gd name="adj" fmla="val 2344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092575" y="658019"/>
            <a:ext cx="6978650" cy="4070350"/>
          </a:xfrm>
          <a:prstGeom prst="roundRect">
            <a:avLst>
              <a:gd name="adj" fmla="val 2418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14338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· UML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92759"/>
            <a:ext cx="470916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Classes de comunicação, auditoria e validação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2428379"/>
            <a:ext cx="47091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3 do documento de especificação (doc. 02).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7382" y="2824559"/>
            <a:ext cx="4616958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 liga remetente e destinatário, ambos Usuário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EventoAuditoria registra ação, entidade e detalhes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FeedbackValidação guarda cenário, sucesso, tempo e nota de 1 a 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40400" y="609600"/>
            <a:ext cx="50165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7" name="Image 0" descr="Diagrama UML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5746750" y="615950"/>
            <a:ext cx="5003800" cy="4051300"/>
          </a:xfrm>
          <a:prstGeom prst="roundRect">
            <a:avLst>
              <a:gd name="adj" fmla="val 2351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743575" y="612775"/>
            <a:ext cx="50101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 · MODELO DE DADOS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2612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relacional em SQLite com integridade referencial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15645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1869976"/>
            <a:ext cx="2501900" cy="294580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0750" y="192395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school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15975" y="2259806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0750" y="231378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0750" y="2500412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 e credenciais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15975" y="2800747"/>
            <a:ext cx="2501900" cy="294580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0750" y="2854722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975" y="3190577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0750" y="3244552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students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0750" y="3431183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classes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98850" y="15645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PRESENÇA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02025" y="1869976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6800" y="192395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guardian_students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06800" y="2110581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N:N usuário ↔ aluno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02025" y="2410916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6800" y="246489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attendance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06800" y="2651522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students, registrada por users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02025" y="2951857"/>
            <a:ext cx="2501900" cy="294580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6800" y="3005832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guardian_invitations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02025" y="3341688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6800" y="3395663"/>
            <a:ext cx="239395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guardian_invitation_students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06800" y="3582293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convite e aluno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84900" y="15645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8075" y="1869976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2850" y="192395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notifications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92850" y="2110581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users, students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88075" y="2410916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2850" y="246489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messages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92850" y="2651522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users para users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870950" y="15645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74125" y="1869976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78900" y="192395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audit_log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78900" y="2110581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 críticos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874125" y="2410916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78900" y="2464891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feedback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978900" y="2651522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users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874125" y="2951857"/>
            <a:ext cx="2501900" cy="445691"/>
          </a:xfrm>
          <a:prstGeom prst="roundRect">
            <a:avLst>
              <a:gd name="adj" fmla="val 1353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78900" y="3005832"/>
            <a:ext cx="236112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schema_migrations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978900" y="3192463"/>
            <a:ext cx="2361120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versão do esquema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75098"/>
            <a:ext cx="51015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· DER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953518"/>
            <a:ext cx="530860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lógico relacional: núcleo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2453878"/>
            <a:ext cx="51015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4 do documento de especificação (doc. 02).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7382" y="2850059"/>
            <a:ext cx="5009388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guardian_students resolve a relação N:N entre responsáveis e alunos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registra tipo (ENTRADA ou SAIDA), método QR_TOKEN e origem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ligam usuário e aluno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agrupa os alunos por turma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1400" y="609600"/>
            <a:ext cx="4470400" cy="4699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pic>
        <p:nvPicPr>
          <p:cNvPr id="7" name="Image 0" descr="Diagrama UML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6127750" y="615950"/>
            <a:ext cx="4457700" cy="4686300"/>
          </a:xfrm>
          <a:prstGeom prst="roundRect">
            <a:avLst>
              <a:gd name="adj" fmla="val 2137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124575" y="612775"/>
            <a:ext cx="4464050" cy="4692650"/>
          </a:xfrm>
          <a:prstGeom prst="roundRect">
            <a:avLst>
              <a:gd name="adj" fmla="val 2205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7679"/>
            <a:ext cx="5624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· DER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286099"/>
            <a:ext cx="562483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lógico: comunicação, auditoria e feedback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3121720"/>
            <a:ext cx="562483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5 do documento de especificação (doc. 02).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7382" y="3517900"/>
            <a:ext cx="553262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liga remetente e destinatário em users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audit_events guarda ação, entidade e detalhes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registra cenário, sucesso, tempo e nota de 1 a 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29400" y="609600"/>
            <a:ext cx="3479800" cy="495300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/>
        </p:spPr>
      </p:sp>
      <p:pic>
        <p:nvPicPr>
          <p:cNvPr id="7" name="Image 0" descr="Diagrama UML"/>
          <p:cNvPicPr>
            <a:picLocks noChangeAspect="1"/>
          </p:cNvPicPr>
          <p:nvPr/>
        </p:nvPicPr>
        <p:blipFill>
          <a:blip r:embed="rId3"/>
          <a:srcRect t="-71" b="-71"/>
          <a:stretch/>
        </p:blipFill>
        <p:spPr>
          <a:xfrm>
            <a:off x="6635750" y="615950"/>
            <a:ext cx="3467100" cy="4940300"/>
          </a:xfrm>
          <a:prstGeom prst="roundRect">
            <a:avLst>
              <a:gd name="adj" fmla="val 2747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632575" y="612775"/>
            <a:ext cx="3473450" cy="4946650"/>
          </a:xfrm>
          <a:prstGeom prst="roundRect">
            <a:avLst>
              <a:gd name="adj" fmla="val 2834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· SEQUÊNCIA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88020"/>
            <a:ext cx="32702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Registrar entrada ou saída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1823641"/>
            <a:ext cx="3270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completo do caso de uso mais crítico do MVP.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7382" y="2450902"/>
            <a:ext cx="3178048" cy="176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API valida sessão e perfil antes de qualquer operação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regras de domínio definem a próxima movimentação válida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presença e a notificação são persistidas e confirmadas à portaria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667643"/>
            <a:ext cx="6985000" cy="346710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/>
        </p:spPr>
      </p:sp>
      <p:pic>
        <p:nvPicPr>
          <p:cNvPr id="7" name="Image 0" descr="Diagrama U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819" y="673993"/>
            <a:ext cx="5950163" cy="345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46575" y="670818"/>
            <a:ext cx="6978650" cy="3460750"/>
          </a:xfrm>
          <a:prstGeom prst="roundRect">
            <a:avLst>
              <a:gd name="adj" fmla="val 2844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DISCUSSÃO E RESULTADOS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Resultados verificáveis do MVP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28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49/49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12800" y="2273201"/>
            <a:ext cx="2524633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automatizados aprovados: domínio, segurança, API e privacidade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179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79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17900" y="2273201"/>
            <a:ext cx="252463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funcionais com critério de aceite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30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30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23000" y="2273201"/>
            <a:ext cx="252463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não funcionais com forma de comprovação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281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281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928100" y="2273201"/>
            <a:ext cx="252463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 documentadas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411041"/>
            <a:ext cx="1088339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Regressões de privacidade cobrem diretório mínimo, mensagens e notificações isoladas e CSV sem dados de demonstração. Fonte: pacote final revisado V2.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CONSIDERAÇÕES FINAIS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foi entregue, o que falta e como evoluir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339725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Entregue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042021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executável com as 5 funcionalidades, documentação completa e suíte de testes.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97375" y="1558826"/>
            <a:ext cx="339725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8350" y="173980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Limitações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8350" y="2042021"/>
            <a:ext cx="312635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sintéticos; pesquisa de campo classificada como parcial até haver evidência primária; sem homologação nem certificação LGPD.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78775" y="1558826"/>
            <a:ext cx="339725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9750" y="173980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9750" y="2042021"/>
            <a:ext cx="3126359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institucional autorizado, base legal e governança de privacidade, infraestrutura segura e validação jurídica.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515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Bibliografia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2800" y="1657251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ASSOCIAÇÃO BRASILEIRA DE NORMAS TÉCNICAS.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NBR 6023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informação e documentação – referências. Rio de Janeiro: ABNT, 2025.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12800" y="2001341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BRASIL.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 nº 13.709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 14 de agosto de 2018. Lei Geral de Proteção de Dados Pessoais.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2800" y="2345432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BRASIL. Ministério da Educação.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Resolução CNE/CES nº 7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 18 de dezembro de 2018. Diretrizes para a Extensão na Educação Superior.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2800" y="2689523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FOUNDATION.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MASVS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Mobile Application Security Verification Standard. mas.owasp.org/MASVS.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2800" y="3033613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WIDE WEB CONSORTIUM.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Web Content Accessibility Guidelines. w3.org/TR/WCAG22.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47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AGRADECIMENTOS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63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i="0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Obrigado.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2900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professor Altemar Sales de Oliveira, à instituição e à comunidade escolar que apoiou o projeto.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93442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Flavio Gabrig Ferreira · Richardson Conceição Ferreira · Lealdo Coelho Válido de Jesus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github.com/richaferreira/Safe_Student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 Student — Apresentação Final">
  <a:themeElements>
    <a:clrScheme name="Safe Student — Apresentação Final">
      <a:dk1>
        <a:srgbClr val="14202E"/>
      </a:dk1>
      <a:lt1>
        <a:srgbClr val="F3F5F8"/>
      </a:lt1>
      <a:dk2>
        <a:srgbClr val="4C5561"/>
      </a:dk2>
      <a:lt2>
        <a:srgbClr val="DDE0E4"/>
      </a:lt2>
      <a:accent1>
        <a:srgbClr val="1D5FD0"/>
      </a:accent1>
      <a:accent2>
        <a:srgbClr val="C4620A"/>
      </a:accent2>
      <a:accent3>
        <a:srgbClr val="7DB3FF"/>
      </a:accent3>
      <a:accent4>
        <a:srgbClr val="5B6B7C"/>
      </a:accent4>
      <a:accent5>
        <a:srgbClr val="33414F"/>
      </a:accent5>
      <a:accent6>
        <a:srgbClr val="A9B6C6"/>
      </a:accent6>
      <a:hlink>
        <a:srgbClr val="0563C1"/>
      </a:hlink>
      <a:folHlink>
        <a:srgbClr val="954F72"/>
      </a:folHlink>
    </a:clrScheme>
    <a:fontScheme name="Safe Student — Apresentação Final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2164</Words>
  <Application>Microsoft Office PowerPoint</Application>
  <PresentationFormat>Widescreen</PresentationFormat>
  <Paragraphs>314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Courier New</vt:lpstr>
      <vt:lpstr>Inter</vt:lpstr>
      <vt:lpstr>Manrope</vt:lpstr>
      <vt:lpstr>Safe Student — Apresentação Final</vt:lpstr>
      <vt:lpstr>Safe Student</vt:lpstr>
      <vt:lpstr>Saber quando o estudante entra e sai da escola é parte da segurança e do acompanhamento familiar</vt:lpstr>
      <vt:lpstr>Três dificuldades comuns no acompanhamento da movimentação escolar</vt:lpstr>
      <vt:lpstr>Demonstrar que identificação simples, registro rastreável e notificação rápida tornam a movimentação escolar mais clara e verificável.</vt:lpstr>
      <vt:lpstr>Pesquisa aplicada, exploratória e descritiva, com validação acadêmica controlada</vt:lpstr>
      <vt:lpstr>Cinco funcionalidades essenciais sustentam o MVP</vt:lpstr>
      <vt:lpstr>Entrada segura por perfil</vt:lpstr>
      <vt:lpstr>Próxima movimentação sempre válida</vt:lpstr>
      <vt:lpstr>Família informada e canal de comunicação</vt:lpstr>
      <vt:lpstr>Visão geral da operação escolar</vt:lpstr>
      <vt:lpstr>Auditoria de eventos críticos</vt:lpstr>
      <vt:lpstr>Arquitetura enxuta, com privacidade por padrão</vt:lpstr>
      <vt:lpstr>Diagrama de componentes</vt:lpstr>
      <vt:lpstr>Três perfis, cada um com permissões mínimas</vt:lpstr>
      <vt:lpstr>Diagrama unificado de casos de uso</vt:lpstr>
      <vt:lpstr>Diagrama de classes: núcleo de presença</vt:lpstr>
      <vt:lpstr>Classes de comunicação, auditoria e validação</vt:lpstr>
      <vt:lpstr>Modelo relacional em SQLite com integridade referencial</vt:lpstr>
      <vt:lpstr>Modelo lógico relacional: núcleo</vt:lpstr>
      <vt:lpstr>Modelo lógico: comunicação, auditoria e feedback</vt:lpstr>
      <vt:lpstr>Registrar entrada ou saída</vt:lpstr>
      <vt:lpstr>Resultados verificáveis do MVP</vt:lpstr>
      <vt:lpstr>O que foi entregue, o que falta e como evoluir</vt:lpstr>
      <vt:lpstr>Bibliografia</vt:lpstr>
      <vt:lpstr>Obrigado.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Student — Apresentação Final</dc:title>
  <dc:subject/>
  <dc:creator/>
  <cp:lastModifiedBy>Richardson Ferreira</cp:lastModifiedBy>
  <cp:revision>5</cp:revision>
  <dcterms:created xsi:type="dcterms:W3CDTF">2026-10-06T21:02:09Z</dcterms:created>
  <dcterms:modified xsi:type="dcterms:W3CDTF">2026-10-06T21:07:52Z</dcterms:modified>
</cp:coreProperties>
</file>