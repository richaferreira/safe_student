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058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42A4A"/>
                </a:solidFill>
                <a:latin typeface="Aptos"/>
              </a:rPr>
              <a:t>SAFE STUDENT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73352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2937"/>
                </a:solidFill>
                <a:latin typeface="Aptos"/>
              </a:rPr>
              <a:t>Presença escolar rastreável e comunicação família–escola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04288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88999"/>
                </a:solidFill>
                <a:latin typeface="Aptos"/>
              </a:rPr>
              <a:t>Revisão técnica V2.0 • requisitos verificáveis • UML/DER formal • MVP auditável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108960"/>
            <a:ext cx="103327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6949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F2937"/>
                </a:solidFill>
                <a:latin typeface="Aptos"/>
              </a:rPr>
              <a:t>Flavio Gabrig Ferreira — 202323361
Richardson Conceição Ferreira — 202323181
Gerente do projeto: Richardson Conceição Ferreira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401568"/>
            <a:ext cx="25603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2937"/>
                </a:solidFill>
                <a:latin typeface="Aptos"/>
              </a:rPr>
              <a:t>Práticas Extensionistas Integradoras VI
Professor: Altemar Sales de Oliveira
Saquarema/RJ •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0350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76374"/>
                </a:solidFill>
                <a:latin typeface="Aptos"/>
              </a:rPr>
              <a:t>MVP acadêmico com dados sintéticos — não homologado para produção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Problema, proposta de valor e limite do MVP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210312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103120"/>
            <a:ext cx="54864" cy="182880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28600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Problema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79191"/>
            <a:ext cx="310896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Processos manuais e comunicação dispersa dificultam confirmar entrada/saída, consolidar histórico e responder rapidamente a dúvidas da família.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0312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103120"/>
            <a:ext cx="54864" cy="182880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28600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Proposta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679191"/>
            <a:ext cx="310896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Identificação simples por token, registro rastreável, notificação interna e consulta por perfil — com o mínimo de dados necessário.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10312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103120"/>
            <a:ext cx="54864" cy="1828800"/>
          </a:xfrm>
          <a:prstGeom prst="rect">
            <a:avLst/>
          </a:prstGeom>
          <a:solidFill>
            <a:srgbClr val="9C5F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28600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Limite acadêmico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679191"/>
            <a:ext cx="310896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Sem biometria, NFC/RFID, catraca, geolocalização contínua, push real ou banco corporativo. Esses itens não são desenhados como implementados.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343400"/>
            <a:ext cx="3474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7375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funcionalidades essenciais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462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87375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atores centrais: família, portaria e gestão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343400"/>
            <a:ext cx="347472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4622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87375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fonte de verdade técnica: comportamento verificável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ESCOPO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As cinco funcionalidades essenciais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76374"/>
                </a:solidFill>
                <a:latin typeface="Aptos"/>
              </a:rPr>
              <a:t>Recursos complementares são mantidos fora da contagem para evitar inflar o escopo.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5880" y="2057400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157984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Autenticação e autorização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157984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Acesso e operações controladas por perfil.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07791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2862072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962656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Vínculo aluno–responsável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962656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Família enxerga apenas estudantes vinculados.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12463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25880" y="3666744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67327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Entrada e saída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767327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Registro por token/QR simulado com sequência válida.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17136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25880" y="4471416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571999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Notificação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571999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Aviso interno criado para responsáveis vinculados.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21808"/>
            <a:ext cx="411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188999"/>
                </a:solidFill>
                <a:latin typeface="Aptos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25880" y="5276088"/>
            <a:ext cx="9966960" cy="6126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5376672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42A4A"/>
                </a:solidFill>
                <a:latin typeface="Aptos"/>
              </a:rPr>
              <a:t>Rastreabilidade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376672"/>
            <a:ext cx="6583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Histórico, relatório e auditoria de operações relevantes.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ENGENHARIA DE REQUISITOS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Requisitos V2: verificáveis, rastreáveis e coerentes com o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54864" cy="15087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240280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RF verificáveis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33472"/>
            <a:ext cx="315468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15 requisitos funcionais descrevem obrigações observáveis. Cada RF possui critério de aceite e prioridade.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57400"/>
            <a:ext cx="54864" cy="15087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240280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RNF verificáveis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633472"/>
            <a:ext cx="315468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12 requisitos não funcionais indicam a forma de comprovação. Metas sem medição não são tratadas como atendidas.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057400"/>
            <a:ext cx="35204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057400"/>
            <a:ext cx="54864" cy="15087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240280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12 regras de negócio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633472"/>
            <a:ext cx="3154680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Sequência de presença, escopo por vínculo, perfis autorizados, evidência de feedback e definição do dia escolar.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977639"/>
            <a:ext cx="11018520" cy="1417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88999"/>
                </a:solidFill>
                <a:latin typeface="Aptos"/>
              </a:rPr>
              <a:t>Mudança de postura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160520"/>
            <a:ext cx="8321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2937"/>
                </a:solidFill>
                <a:latin typeface="Aptos"/>
              </a:rPr>
              <a:t>A V2 não mantém uma quantidade artificial de requisitos apenas para “encher” o documento. A contagem resulta do comportamento do MVP. Termos vagos como “seguro”, “rápido” ou “LGPD compliant” só aparecem quando existe critério ou evidência correspondente.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0644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Referência: docs/ESPECIFICACAO_REQUISITOS_V2.md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CASOS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Relações simples, sem setas de fluxo entre ator e caso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76374"/>
                </a:solidFill>
                <a:latin typeface="Aptos"/>
              </a:rPr>
              <a:t>A modelagem foi separada por ator para reduzir cruzamentos e interpretações ambíguas.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333756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uc_respons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21408"/>
            <a:ext cx="3044952" cy="1992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605272"/>
            <a:ext cx="2971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142A4A"/>
                </a:solidFill>
                <a:latin typeface="Aptos"/>
              </a:rPr>
              <a:t>Responsável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965960"/>
            <a:ext cx="333756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uc_porta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6824" y="2121408"/>
            <a:ext cx="3044952" cy="1992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43400" y="5605272"/>
            <a:ext cx="2971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142A4A"/>
                </a:solidFill>
                <a:latin typeface="Aptos"/>
              </a:rPr>
              <a:t>Portaria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1965960"/>
            <a:ext cx="333756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3_uc_gest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2121408"/>
            <a:ext cx="3044952" cy="294852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1000" y="5605272"/>
            <a:ext cx="2971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142A4A"/>
                </a:solidFill>
                <a:latin typeface="Aptos"/>
              </a:rPr>
              <a:t>Gestão escolar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MODELAGEM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Classes, DER e sequência têm responsabilidades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938528"/>
            <a:ext cx="349300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classes_nucl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2103120"/>
            <a:ext cx="3273552" cy="18550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" y="5394960"/>
            <a:ext cx="3154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2A4A"/>
                </a:solidFill>
                <a:latin typeface="Aptos"/>
              </a:rPr>
              <a:t>Classes conceituais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669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76374"/>
                </a:solidFill>
                <a:latin typeface="Aptos"/>
              </a:rPr>
              <a:t>Conceitos e multiplicidades; FKs não são misturadas ao modelo conceitual.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938528"/>
            <a:ext cx="349300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6_der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103120"/>
            <a:ext cx="3273552" cy="17331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25112" y="5394960"/>
            <a:ext cx="3154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2A4A"/>
                </a:solidFill>
                <a:latin typeface="Aptos"/>
              </a:rPr>
              <a:t>DER lógico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5669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76374"/>
                </a:solidFill>
                <a:latin typeface="Aptos"/>
              </a:rPr>
              <a:t>PK/FK/UQ e cardinalidades; relacionamentos sem setas de processo.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938528"/>
            <a:ext cx="349300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_sequencia_presen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288" y="2103120"/>
            <a:ext cx="3273552" cy="190047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74152" y="5394960"/>
            <a:ext cx="3154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2A4A"/>
                </a:solidFill>
                <a:latin typeface="Aptos"/>
              </a:rPr>
              <a:t>Sequência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5669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>
                <a:solidFill>
                  <a:srgbClr val="576374"/>
                </a:solidFill>
                <a:latin typeface="Aptos"/>
              </a:rPr>
              <a:t>Setas representam mensagens; retornos são tracejados.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ARQUITETURA E PRIVACIDADE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O diagrama mostra somente o que realmente existe no MVP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arquitetura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65960"/>
            <a:ext cx="6400800" cy="31790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06640" y="1993392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993392"/>
            <a:ext cx="54864" cy="10515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7808" y="2176272"/>
            <a:ext cx="37947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Privacidade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7808" y="2569464"/>
            <a:ext cx="37947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Gestão não lê mensagens privadas de terceiros nem recebe notificações destinadas aos responsáveis.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246120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3246120"/>
            <a:ext cx="54864" cy="10515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7808" y="3429000"/>
            <a:ext cx="37947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Minimização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3822191"/>
            <a:ext cx="37947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Diretório retorna somente id, nome, perfil e status. Consultas administrativas retornam somente dados necessários.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4498848"/>
            <a:ext cx="41605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06640" y="4498848"/>
            <a:ext cx="54864" cy="105156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07808" y="4681728"/>
            <a:ext cx="37947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Persistência acadêmica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5074920"/>
            <a:ext cx="3794759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Seed sintética versionada; estado mutável em db.runtime.json, criado localmente e ignorado pelo Git.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QUALIDADE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Suíte V2: domínio, segurança, API e regressões de privacidade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92608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7627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24/24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2651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testes aprovados localmente — Node.js 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2057400"/>
            <a:ext cx="242316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176272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587752"/>
            <a:ext cx="2148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falhas na execução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242316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76272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87752"/>
            <a:ext cx="2148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versões previstas no CI: 18/20/22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2057400"/>
            <a:ext cx="2697480" cy="9144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176272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188999"/>
                </a:solidFill>
                <a:latin typeface="Apto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587752"/>
            <a:ext cx="24231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76374"/>
                </a:solidFill>
                <a:latin typeface="Aptos"/>
              </a:rPr>
              <a:t>novas regressões de privacidade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29000"/>
            <a:ext cx="34290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29000"/>
            <a:ext cx="54864" cy="164592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61188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Regras de domínio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005072"/>
            <a:ext cx="30632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Token, RBAC, alunos vinculados, sequência entrada → saída e definição do dia escolar.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429000"/>
            <a:ext cx="34290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429000"/>
            <a:ext cx="54864" cy="164592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0288" y="3611880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4005072"/>
            <a:ext cx="306324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Login, autorização, presença, CSV, mensagens e feedback.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429000"/>
            <a:ext cx="3383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429000"/>
            <a:ext cx="54864" cy="164592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9328" y="3611880"/>
            <a:ext cx="3017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Privacidade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005072"/>
            <a:ext cx="301752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Diretório mínimo, mensagens isoladas, notificações isoladas, CSV sem DEMO_SEED e reset auditado.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71500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9C5F18"/>
                </a:solidFill>
                <a:latin typeface="Aptos"/>
              </a:rPr>
              <a:t>Antes do merge final: confirmar o CI da branch e repetir o roteiro funcional.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VALIDAÇÃO EXTENSIONISTA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O projeto não transforma dado histórico em evidência sem comprovação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57400"/>
            <a:ext cx="54864" cy="201168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24028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O que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33472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Instrumentos, perfis, protocolo de validação e resultados históricos declarados em versão anterior.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2057400"/>
            <a:ext cx="54864" cy="2011680"/>
          </a:xfrm>
          <a:prstGeom prst="rect">
            <a:avLst/>
          </a:prstGeom>
          <a:solidFill>
            <a:srgbClr val="9C5F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224028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O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633472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Formulários/termos preenchidos, respostas anonimizadas ou CSV real que permita reproduzir quantidade, percentuais e média.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05740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057400"/>
            <a:ext cx="54864" cy="2011680"/>
          </a:xfrm>
          <a:prstGeom prst="rect">
            <a:avLst/>
          </a:prstGeom>
          <a:solidFill>
            <a:srgbClr val="188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240280"/>
            <a:ext cx="3108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42A4A"/>
                </a:solidFill>
                <a:latin typeface="Aptos"/>
              </a:rPr>
              <a:t>Como fechar corretamente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633472"/>
            <a:ext cx="3108960" cy="1298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Executar tarefas reais, registrar Feedback sem nome do participante, exportar apenas APRESENTACAO e anexar a evidência.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434840"/>
            <a:ext cx="10972800" cy="10972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2744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9C5F18"/>
                </a:solidFill>
                <a:latin typeface="Aptos"/>
              </a:rPr>
              <a:t>Status acadêmico correto: PESQUISA DE CAMPO = PARCIAL até existir evidência primária real.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88999"/>
                </a:solidFill>
                <a:latin typeface="Aptos"/>
              </a:rPr>
              <a:t>FECHAMENTO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A4A"/>
                </a:solidFill>
                <a:latin typeface="Aptos"/>
              </a:rPr>
              <a:t>Como defender o Safe Student depois da revisão V2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18288"/>
          </a:xfrm>
          <a:prstGeom prst="rect">
            <a:avLst/>
          </a:prstGeom>
          <a:solidFill>
            <a:srgbClr val="D6D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57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Abra com o problema e limite do MVP.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157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Mostre as 5 funcionalidades essenciais.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54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37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300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Explique que requisito, classes, DER e sequência são artefatos diferentes.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154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337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300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Demonstre entrada → notificação → relatório → auditoria.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97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480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443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Mostre teste inválido e autorização no backend.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297680"/>
            <a:ext cx="5257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4805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88999"/>
                </a:solidFill>
                <a:latin typeface="Aptos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4443984"/>
            <a:ext cx="43434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Finalize com a pendência real de evidência de campo e evolução futura.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623560"/>
            <a:ext cx="10881360" cy="621792"/>
          </a:xfrm>
          <a:prstGeom prst="roundRect">
            <a:avLst/>
          </a:prstGeom>
          <a:solidFill>
            <a:srgbClr val="142A4A"/>
          </a:solidFill>
          <a:ln w="12700">
            <a:solidFill>
              <a:srgbClr val="14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88152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V2.0: mais importante que “parecer completo” é conseguir provar cada afirmação diante da banca.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10698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76374"/>
                </a:solidFill>
                <a:latin typeface="Aptos"/>
              </a:rPr>
              <a:t>Safe Student • Práticas Extensionistas Integradoras VI • Prof. Altemar Sales de Oliveira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01400" y="6473952"/>
            <a:ext cx="4114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>
                <a:solidFill>
                  <a:srgbClr val="57637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