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058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42A4A"/>
                </a:solidFill>
                <a:latin typeface="Aptos"/>
              </a:rPr>
              <a:t>SAFE STUDENT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73352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Aptos"/>
              </a:rPr>
              <a:t>Presença escolar rastreável e comunicação família–escola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88999"/>
                </a:solidFill>
                <a:latin typeface="Aptos"/>
              </a:rPr>
              <a:t>Requisitos verificáveis • UML consolidada • MVP acadêmico auditável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08960"/>
            <a:ext cx="103327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6949440" cy="868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1220" b="0">
                <a:solidFill>
                  <a:srgbClr val="1F2937"/>
                </a:solidFill>
                <a:latin typeface="Aptos"/>
              </a:rPr>
              <a:t>Flavio Gabrig Ferreira — 202323361</a:t>
            </a:r>
          </a:p>
          <a:p>
            <a:r>
              <a:rPr sz="1220" b="0">
                <a:solidFill>
                  <a:srgbClr val="1F2937"/>
                </a:solidFill>
                <a:latin typeface="Aptos"/>
              </a:rPr>
              <a:t>Richardson Conceição Ferreira — 202323181</a:t>
            </a:r>
          </a:p>
          <a:p>
            <a:r>
              <a:rPr sz="1220" b="0">
                <a:solidFill>
                  <a:srgbClr val="1F2937"/>
                </a:solidFill>
                <a:latin typeface="Aptos"/>
              </a:rPr>
              <a:t>Lealdo Coelho Válido de Jesus — 202323215</a:t>
            </a:r>
          </a:p>
          <a:p>
            <a:r>
              <a:rPr sz="1220" b="0">
                <a:solidFill>
                  <a:srgbClr val="1F2937"/>
                </a:solidFill>
                <a:latin typeface="Aptos"/>
              </a:rPr>
              <a:t>Gerente do projeto: Richardson Conceição Ferreira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401568"/>
            <a:ext cx="2560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2937"/>
                </a:solidFill>
                <a:latin typeface="Aptos"/>
              </a:rPr>
              <a:t>Práticas Extensionistas Integradoras VI
Professor: Altemar Sales de Oliveira
Saquarema/RJ •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350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76374"/>
                </a:solidFill>
                <a:latin typeface="Aptos"/>
              </a:rPr>
              <a:t>MVP acadêmico com dados sintéticos — não homologado para produção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Problema, proposta de valor e limite do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210312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103120"/>
            <a:ext cx="54864" cy="182880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28600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9191"/>
            <a:ext cx="310896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Processos manuais e comunicação dispersa dificultam confirmar entrada/saída, consolidar histórico e responder rapidamente a dúvidas da família.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103120"/>
            <a:ext cx="54864" cy="182880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28600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679191"/>
            <a:ext cx="310896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Identificação simples por token, registro rastreável, notificação interna e consulta por perfil — com o mínimo de dados necessário.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10312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103120"/>
            <a:ext cx="54864" cy="1828800"/>
          </a:xfrm>
          <a:prstGeom prst="rect">
            <a:avLst/>
          </a:prstGeom>
          <a:solidFill>
            <a:srgbClr val="9C5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28600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Limite acadêmico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679191"/>
            <a:ext cx="310896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Sem biometria, NFC/RFID, catraca, geolocalização contínua, push real ou banco corporativo. Esses itens não são desenhados como implementados.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343400"/>
            <a:ext cx="3474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7375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funcionalidades essenciais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462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87375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atores centrais: família, portaria e gestão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343400"/>
            <a:ext cx="3474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462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87375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fonte de verdade técnica: comportamento verificável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ESCOPO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As cinco funcionalidades essenciais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76374"/>
                </a:solidFill>
                <a:latin typeface="Aptos"/>
              </a:rPr>
              <a:t>Recursos complementares são mantidos fora da contagem para evitar inflar o escopo.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2057400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157984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Autenticação e autorização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157984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Acesso e operações controladas por perfil.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07791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2862072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962656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Vínculo aluno–responsável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962656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Família enxerga apenas estudantes vinculados.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3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25880" y="3666744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67327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Entrada e saída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767327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Registro por token/QR simulado com sequência válida.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17136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" y="4471416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571999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Notificação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571999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Aviso interno criado para responsáveis vinculados.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21808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25880" y="5276088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5376672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Rastreabilidade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376672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Histórico, relatório e auditoria de operações relevantes.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ENGENHARIA DE REQUISITOS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Requisitos verificáveis, rastreáveis e coerentes com o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54864" cy="15087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24028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RF verificáveis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33472"/>
            <a:ext cx="315468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11 requisitos funcionais descrevem obrigações observáveis. Cada RF possui critério de aceite e prioridade.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57400"/>
            <a:ext cx="54864" cy="15087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24028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RNF verificáveis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633472"/>
            <a:ext cx="315468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8 requisitos não funcionais indicam a forma de comprovação. Metas sem medição não são tratadas como atendidas.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0574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057400"/>
            <a:ext cx="54864" cy="15087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24028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12 regras de negócio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633472"/>
            <a:ext cx="315468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Sequência de presença, escopo por vínculo, perfis autorizados, evidência de feedback e definição do dia escolar.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977639"/>
            <a:ext cx="110185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88999"/>
                </a:solidFill>
                <a:latin typeface="Aptos"/>
              </a:rPr>
              <a:t>Mudança de postura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16052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Aptos"/>
              </a:rPr>
              <a:t>A especificação não mantém uma quantidade artificial de requisitos apenas para “encher” o documento. A contagem resulta do comportamento do MVP. Termos vagos como “seguro”, “rápido” ou “LGPD compliant” só aparecem quando existe critério ou evidência correspondente.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0644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Referência: documentação técnica consolidada do Safe Student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120640" cy="22860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l"/>
            <a:r>
              <a:rPr sz="700" b="1">
                <a:solidFill>
                  <a:srgbClr val="007E82"/>
                </a:solidFill>
                <a:latin typeface="Aptos"/>
              </a:rPr>
              <a:t>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45720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l"/>
            <a:r>
              <a:rPr sz="2100" b="1">
                <a:solidFill>
                  <a:srgbClr val="213547"/>
                </a:solidFill>
                <a:latin typeface="Aptos"/>
              </a:rPr>
              <a:t>Diagrama unificado de 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1064240" cy="32004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l"/>
            <a:r>
              <a:rPr sz="1100" b="0">
                <a:solidFill>
                  <a:srgbClr val="5E6E82"/>
                </a:solidFill>
                <a:latin typeface="Aptos"/>
              </a:rPr>
              <a:t>Responsável, Portaria e Gestão Escolar no mesmo diagrama — sem ator genérico e sem duplicar ações secundárias.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0241280" cy="22860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l"/>
            <a:r>
              <a:rPr sz="700" b="0">
                <a:solidFill>
                  <a:srgbClr val="5E6E82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73952"/>
            <a:ext cx="411480" cy="22860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r"/>
            <a:r>
              <a:rPr sz="800" b="0">
                <a:solidFill>
                  <a:srgbClr val="5E6E82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737360"/>
            <a:ext cx="9006840" cy="4443984"/>
          </a:xfrm>
          <a:prstGeom prst="roundRect">
            <a:avLst/>
          </a:prstGeom>
          <a:noFill/>
          <a:ln w="1905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847088"/>
            <a:ext cx="2194560" cy="22860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l"/>
            <a:r>
              <a:rPr sz="1000" b="1">
                <a:solidFill>
                  <a:srgbClr val="213547"/>
                </a:solidFill>
                <a:latin typeface="Aptos"/>
              </a:rPr>
              <a:t>Safe Student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234440" y="2112264"/>
            <a:ext cx="4343400" cy="813816"/>
          </a:xfrm>
          <a:prstGeom prst="line">
            <a:avLst/>
          </a:prstGeom>
          <a:ln w="13335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234440" y="2889504"/>
            <a:ext cx="2674620" cy="36576"/>
          </a:xfrm>
          <a:prstGeom prst="line">
            <a:avLst/>
          </a:prstGeom>
          <a:ln w="13335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34440" y="2926080"/>
            <a:ext cx="2720340" cy="667512"/>
          </a:xfrm>
          <a:prstGeom prst="line">
            <a:avLst/>
          </a:prstGeom>
          <a:ln w="13335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234440" y="2889504"/>
            <a:ext cx="5875020" cy="36576"/>
          </a:xfrm>
          <a:prstGeom prst="line">
            <a:avLst/>
          </a:prstGeom>
          <a:ln w="13335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34440" y="2926080"/>
            <a:ext cx="5943600" cy="667512"/>
          </a:xfrm>
          <a:prstGeom prst="line">
            <a:avLst/>
          </a:prstGeom>
          <a:ln w="13335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234440" y="2112264"/>
            <a:ext cx="4343400" cy="2962656"/>
          </a:xfrm>
          <a:prstGeom prst="line">
            <a:avLst/>
          </a:prstGeom>
          <a:ln w="13335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234440" y="4306824"/>
            <a:ext cx="2628899" cy="768096"/>
          </a:xfrm>
          <a:prstGeom prst="line">
            <a:avLst/>
          </a:prstGeom>
          <a:ln w="13335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34440" y="4306824"/>
            <a:ext cx="5417820" cy="768096"/>
          </a:xfrm>
          <a:prstGeom prst="line">
            <a:avLst/>
          </a:prstGeom>
          <a:ln w="13335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234440" y="2889504"/>
            <a:ext cx="5875020" cy="2185416"/>
          </a:xfrm>
          <a:prstGeom prst="line">
            <a:avLst/>
          </a:prstGeom>
          <a:ln w="13335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34440" y="3593592"/>
            <a:ext cx="5943600" cy="1481328"/>
          </a:xfrm>
          <a:prstGeom prst="line">
            <a:avLst/>
          </a:prstGeom>
          <a:ln w="13335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5577840" y="2112264"/>
            <a:ext cx="5166360" cy="186537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3909060" y="2889504"/>
            <a:ext cx="6835140" cy="108813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863339" y="3977639"/>
            <a:ext cx="6880861" cy="32918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652260" y="3977639"/>
            <a:ext cx="4091940" cy="32918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795260" y="3977639"/>
            <a:ext cx="2948940" cy="92354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5006340" y="3977639"/>
            <a:ext cx="5737860" cy="119786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863840" y="3977639"/>
            <a:ext cx="2880360" cy="165506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7109460" y="2889504"/>
            <a:ext cx="3634740" cy="1088135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178040" y="3593592"/>
            <a:ext cx="3566160" cy="384047"/>
          </a:xfrm>
          <a:prstGeom prst="line">
            <a:avLst/>
          </a:prstGeom>
          <a:ln w="13335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617720" y="1920240"/>
            <a:ext cx="1920240" cy="384048"/>
          </a:xfrm>
          <a:prstGeom prst="ellipse">
            <a:avLst/>
          </a:prstGeom>
          <a:solidFill>
            <a:srgbClr val="FDE2E2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Autenticar-se</a:t>
            </a:r>
          </a:p>
        </p:txBody>
      </p:sp>
      <p:sp>
        <p:nvSpPr>
          <p:cNvPr id="30" name="Oval 29"/>
          <p:cNvSpPr/>
          <p:nvPr/>
        </p:nvSpPr>
        <p:spPr>
          <a:xfrm>
            <a:off x="2743200" y="2697480"/>
            <a:ext cx="2331720" cy="384048"/>
          </a:xfrm>
          <a:prstGeom prst="ellipse">
            <a:avLst/>
          </a:prstGeom>
          <a:solidFill>
            <a:srgbClr val="DDEEFF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Acompanhar presença</a:t>
            </a:r>
          </a:p>
        </p:txBody>
      </p:sp>
      <p:sp>
        <p:nvSpPr>
          <p:cNvPr id="31" name="Oval 30"/>
          <p:cNvSpPr/>
          <p:nvPr/>
        </p:nvSpPr>
        <p:spPr>
          <a:xfrm>
            <a:off x="2743200" y="3401568"/>
            <a:ext cx="2423160" cy="384048"/>
          </a:xfrm>
          <a:prstGeom prst="ellipse">
            <a:avLst/>
          </a:prstGeom>
          <a:solidFill>
            <a:srgbClr val="DFF7EC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Consultar notificações</a:t>
            </a:r>
          </a:p>
        </p:txBody>
      </p:sp>
      <p:sp>
        <p:nvSpPr>
          <p:cNvPr id="32" name="Oval 31"/>
          <p:cNvSpPr/>
          <p:nvPr/>
        </p:nvSpPr>
        <p:spPr>
          <a:xfrm>
            <a:off x="6080760" y="2697480"/>
            <a:ext cx="2057400" cy="384048"/>
          </a:xfrm>
          <a:prstGeom prst="ellipse">
            <a:avLst/>
          </a:prstGeom>
          <a:solidFill>
            <a:srgbClr val="FFF0D9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Trocar mensagens</a:t>
            </a:r>
          </a:p>
        </p:txBody>
      </p:sp>
      <p:sp>
        <p:nvSpPr>
          <p:cNvPr id="33" name="Oval 32"/>
          <p:cNvSpPr/>
          <p:nvPr/>
        </p:nvSpPr>
        <p:spPr>
          <a:xfrm>
            <a:off x="5943600" y="3401568"/>
            <a:ext cx="2468880" cy="384048"/>
          </a:xfrm>
          <a:prstGeom prst="ellipse">
            <a:avLst/>
          </a:prstGeom>
          <a:solidFill>
            <a:srgbClr val="F1E4FF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Registrar feedback acadêmico</a:t>
            </a:r>
          </a:p>
        </p:txBody>
      </p:sp>
      <p:sp>
        <p:nvSpPr>
          <p:cNvPr id="34" name="Oval 33"/>
          <p:cNvSpPr/>
          <p:nvPr/>
        </p:nvSpPr>
        <p:spPr>
          <a:xfrm>
            <a:off x="2834640" y="4114800"/>
            <a:ext cx="2057400" cy="384048"/>
          </a:xfrm>
          <a:prstGeom prst="ellipse">
            <a:avLst/>
          </a:prstGeom>
          <a:solidFill>
            <a:srgbClr val="DDEFF2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Consultar alunos</a:t>
            </a:r>
          </a:p>
        </p:txBody>
      </p:sp>
      <p:sp>
        <p:nvSpPr>
          <p:cNvPr id="35" name="Oval 34"/>
          <p:cNvSpPr/>
          <p:nvPr/>
        </p:nvSpPr>
        <p:spPr>
          <a:xfrm>
            <a:off x="5623560" y="4114800"/>
            <a:ext cx="2057400" cy="384048"/>
          </a:xfrm>
          <a:prstGeom prst="ellipse">
            <a:avLst/>
          </a:prstGeom>
          <a:solidFill>
            <a:srgbClr val="DFF7EC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Registrar presença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4709160"/>
            <a:ext cx="2606040" cy="384048"/>
          </a:xfrm>
          <a:prstGeom prst="ellipse">
            <a:avLst/>
          </a:prstGeom>
          <a:solidFill>
            <a:srgbClr val="FFF0D9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Gerenciar alunos e vínculos</a:t>
            </a:r>
          </a:p>
        </p:txBody>
      </p:sp>
      <p:sp>
        <p:nvSpPr>
          <p:cNvPr id="37" name="Oval 36"/>
          <p:cNvSpPr/>
          <p:nvPr/>
        </p:nvSpPr>
        <p:spPr>
          <a:xfrm>
            <a:off x="3931920" y="4983480"/>
            <a:ext cx="2148840" cy="384048"/>
          </a:xfrm>
          <a:prstGeom prst="ellipse">
            <a:avLst/>
          </a:prstGeom>
          <a:solidFill>
            <a:srgbClr val="DDEFF2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Consultar auditoria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0" y="5440680"/>
            <a:ext cx="2926080" cy="384048"/>
          </a:xfrm>
          <a:prstGeom prst="ellipse">
            <a:avLst/>
          </a:prstGeom>
          <a:solidFill>
            <a:srgbClr val="F1E4FF"/>
          </a:solidFill>
          <a:ln w="13970">
            <a:solidFill>
              <a:srgbClr val="2D4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30" b="1">
                <a:solidFill>
                  <a:srgbClr val="213547"/>
                </a:solidFill>
                <a:latin typeface="Aptos"/>
              </a:rPr>
              <a:t>Consultar validação acadêmica</a:t>
            </a:r>
          </a:p>
        </p:txBody>
      </p:sp>
      <p:sp>
        <p:nvSpPr>
          <p:cNvPr id="39" name="Oval 38"/>
          <p:cNvSpPr/>
          <p:nvPr/>
        </p:nvSpPr>
        <p:spPr>
          <a:xfrm>
            <a:off x="777240" y="2057400"/>
            <a:ext cx="329184" cy="329184"/>
          </a:xfrm>
          <a:prstGeom prst="ellipse">
            <a:avLst/>
          </a:prstGeom>
          <a:noFill/>
          <a:ln w="25400">
            <a:solidFill>
              <a:srgbClr val="2463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41832" y="2386584"/>
            <a:ext cx="0" cy="512064"/>
          </a:xfrm>
          <a:prstGeom prst="line">
            <a:avLst/>
          </a:prstGeom>
          <a:ln w="25400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40080" y="2560320"/>
            <a:ext cx="603504" cy="0"/>
          </a:xfrm>
          <a:prstGeom prst="line">
            <a:avLst/>
          </a:prstGeom>
          <a:ln w="25400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658368" y="2898648"/>
            <a:ext cx="283464" cy="457200"/>
          </a:xfrm>
          <a:prstGeom prst="line">
            <a:avLst/>
          </a:prstGeom>
          <a:ln w="25400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41832" y="2898648"/>
            <a:ext cx="283463" cy="457200"/>
          </a:xfrm>
          <a:prstGeom prst="line">
            <a:avLst/>
          </a:prstGeom>
          <a:ln w="25400">
            <a:solidFill>
              <a:srgbClr val="2463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65759" y="3429000"/>
            <a:ext cx="1188720" cy="27432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ctr"/>
            <a:r>
              <a:rPr sz="1000" b="1">
                <a:solidFill>
                  <a:srgbClr val="24638E"/>
                </a:solidFill>
                <a:latin typeface="Aptos"/>
              </a:rPr>
              <a:t>Responsável</a:t>
            </a:r>
          </a:p>
        </p:txBody>
      </p:sp>
      <p:sp>
        <p:nvSpPr>
          <p:cNvPr id="45" name="Oval 44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noFill/>
          <a:ln w="25400">
            <a:solidFill>
              <a:srgbClr val="10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41832" y="4535424"/>
            <a:ext cx="0" cy="512064"/>
          </a:xfrm>
          <a:prstGeom prst="line">
            <a:avLst/>
          </a:prstGeom>
          <a:ln w="25400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0080" y="4709159"/>
            <a:ext cx="603504" cy="0"/>
          </a:xfrm>
          <a:prstGeom prst="line">
            <a:avLst/>
          </a:prstGeom>
          <a:ln w="25400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658368" y="5047488"/>
            <a:ext cx="283464" cy="457200"/>
          </a:xfrm>
          <a:prstGeom prst="line">
            <a:avLst/>
          </a:prstGeom>
          <a:ln w="25400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41832" y="5047488"/>
            <a:ext cx="283463" cy="457200"/>
          </a:xfrm>
          <a:prstGeom prst="line">
            <a:avLst/>
          </a:prstGeom>
          <a:ln w="25400">
            <a:solidFill>
              <a:srgbClr val="10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65759" y="5577840"/>
            <a:ext cx="1188720" cy="27432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ctr"/>
            <a:r>
              <a:rPr sz="1000" b="1">
                <a:solidFill>
                  <a:srgbClr val="10845B"/>
                </a:solidFill>
                <a:latin typeface="Aptos"/>
              </a:rPr>
              <a:t>Portaria</a:t>
            </a:r>
          </a:p>
        </p:txBody>
      </p:sp>
      <p:sp>
        <p:nvSpPr>
          <p:cNvPr id="51" name="Oval 50"/>
          <p:cNvSpPr/>
          <p:nvPr/>
        </p:nvSpPr>
        <p:spPr>
          <a:xfrm>
            <a:off x="11045952" y="3108960"/>
            <a:ext cx="329184" cy="329184"/>
          </a:xfrm>
          <a:prstGeom prst="ellipse">
            <a:avLst/>
          </a:prstGeom>
          <a:noFill/>
          <a:ln w="25400">
            <a:solidFill>
              <a:srgbClr val="B85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1210544" y="3438144"/>
            <a:ext cx="0" cy="512064"/>
          </a:xfrm>
          <a:prstGeom prst="line">
            <a:avLst/>
          </a:prstGeom>
          <a:ln w="25400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908792" y="3611880"/>
            <a:ext cx="603504" cy="0"/>
          </a:xfrm>
          <a:prstGeom prst="line">
            <a:avLst/>
          </a:prstGeom>
          <a:ln w="25400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0927080" y="3950208"/>
            <a:ext cx="283464" cy="457200"/>
          </a:xfrm>
          <a:prstGeom prst="line">
            <a:avLst/>
          </a:prstGeom>
          <a:ln w="25400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210544" y="3950208"/>
            <a:ext cx="283464" cy="457200"/>
          </a:xfrm>
          <a:prstGeom prst="line">
            <a:avLst/>
          </a:prstGeom>
          <a:ln w="25400">
            <a:solidFill>
              <a:srgbClr val="B85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0634472" y="4480560"/>
            <a:ext cx="1188720" cy="274320"/>
          </a:xfrm>
          <a:prstGeom prst="rect">
            <a:avLst/>
          </a:prstGeom>
          <a:noFill/>
        </p:spPr>
        <p:txBody>
          <a:bodyPr wrap="none" lIns="27432" rIns="27432" tIns="18288" bIns="18288">
            <a:spAutoFit/>
          </a:bodyPr>
          <a:lstStyle/>
          <a:p>
            <a:pPr algn="ctr"/>
            <a:r>
              <a:rPr sz="1000" b="1">
                <a:solidFill>
                  <a:srgbClr val="B85D00"/>
                </a:solidFill>
                <a:latin typeface="Aptos"/>
              </a:rPr>
              <a:t>Gestão Escolar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37360" y="6236208"/>
            <a:ext cx="8595360" cy="21031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D6A3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640">
                <a:solidFill>
                  <a:srgbClr val="785D14"/>
                </a:solidFill>
                <a:latin typeface="Aptos"/>
              </a:rPr>
              <a:t>Granularidade: entrada/saída fazem parte de “Registrar presença”; relatório/CSV fazem parte de “Acompanhar presença”; marcar como lida faz parte de “Consultar notificações”.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MODELAGEM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Classes, modelo lógico e sequência têm responsabilidades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938528"/>
            <a:ext cx="349300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5394960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2A4A"/>
                </a:solidFill>
                <a:latin typeface="Aptos"/>
              </a:rPr>
              <a:t>Classes conceituais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669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76374"/>
                </a:solidFill>
                <a:latin typeface="Aptos"/>
              </a:rPr>
              <a:t>Conceitos e multiplicidades; FKs não são misturadas ao modelo conceitual.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938528"/>
            <a:ext cx="349300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5394960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2A4A"/>
                </a:solidFill>
                <a:latin typeface="Aptos"/>
              </a:rPr>
              <a:t>Modelo 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669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76374"/>
                </a:solidFill>
                <a:latin typeface="Aptos"/>
              </a:rPr>
              <a:t>Tabelas, PK/FK/UQ, CHECKs e cardinalidades; sem setas de processo.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938528"/>
            <a:ext cx="349300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74152" y="5394960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2A4A"/>
                </a:solidFill>
                <a:latin typeface="Aptos"/>
              </a:rPr>
              <a:t>Sequência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5669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76374"/>
                </a:solidFill>
                <a:latin typeface="Aptos"/>
              </a:rPr>
              <a:t>Setas representam mensagens; retornos são tracejados.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6</a:t>
            </a:r>
          </a:p>
        </p:txBody>
      </p:sp>
      <p:pic>
        <p:nvPicPr>
          <p:cNvPr id="19" name="Picture 18" descr="imag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" y="2345452"/>
            <a:ext cx="3273552" cy="1911062"/>
          </a:xfrm>
          <a:prstGeom prst="rect">
            <a:avLst/>
          </a:prstGeom>
        </p:spPr>
      </p:pic>
      <p:pic>
        <p:nvPicPr>
          <p:cNvPr id="20" name="Picture 19" descr="imag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5596" y="2039112"/>
            <a:ext cx="2382855" cy="2505456"/>
          </a:xfrm>
          <a:prstGeom prst="rect">
            <a:avLst/>
          </a:prstGeom>
        </p:spPr>
      </p:pic>
      <p:pic>
        <p:nvPicPr>
          <p:cNvPr id="21" name="Picture 20" descr="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738" y="2039112"/>
            <a:ext cx="3148651" cy="2505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ARQUITETURA E PRIVACIDADE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O diagrama mostra somente o que realmente existe no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06640" y="1993392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993392"/>
            <a:ext cx="54864" cy="10515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7808" y="2176272"/>
            <a:ext cx="37947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Privacidade no MVP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7808" y="2569464"/>
            <a:ext cx="37947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Gestão não lê mensagens privadas de terceiros nem recebe notificações destinadas aos responsáveis.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246120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3246120"/>
            <a:ext cx="54864" cy="10515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8" y="3429000"/>
            <a:ext cx="37947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Minimização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3822191"/>
            <a:ext cx="37947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Diretório retorna somente id, nome, perfil e status. Consultas administrativas retornam somente dados necessários.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4498848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06640" y="4498848"/>
            <a:ext cx="54864" cy="10515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07808" y="4681728"/>
            <a:ext cx="37947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Persistência acadêmica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5074920"/>
            <a:ext cx="37947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Seed sintética versionada; estado mutável em db.runtime.json, criado localmente e ignorado pelo Git.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7</a:t>
            </a:r>
          </a:p>
        </p:txBody>
      </p:sp>
      <p:pic>
        <p:nvPicPr>
          <p:cNvPr id="20" name="Picture 19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58" y="1965960"/>
            <a:ext cx="5910603" cy="31821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QUALIDADE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Suíte de testes: domínio, segurança, API e regressões de privacidade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92608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24/24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testes aprovados localmente — Node.js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2057400"/>
            <a:ext cx="242316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176272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587752"/>
            <a:ext cx="2148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falhas na execução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242316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76272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87752"/>
            <a:ext cx="2148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versões previstas no CI: 18/20/22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2057400"/>
            <a:ext cx="269748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176272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587752"/>
            <a:ext cx="2423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novas regressões de privacidade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29000"/>
            <a:ext cx="34290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29000"/>
            <a:ext cx="54864" cy="164592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61188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Regras de domínio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005072"/>
            <a:ext cx="3063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Token, RBAC, alunos vinculados, sequência entrada → saída e definição do dia escolar.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429000"/>
            <a:ext cx="34290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429000"/>
            <a:ext cx="54864" cy="164592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61188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005072"/>
            <a:ext cx="3063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Login, autorização, presença, CSV, mensagens e feedback.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42900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429000"/>
            <a:ext cx="54864" cy="164592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9328" y="3611880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Privacidade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005072"/>
            <a:ext cx="30175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Diretório mínimo, mensagens isoladas, notificações isoladas, CSV sem DEMO_SEED e reset auditado.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150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9C5F18"/>
                </a:solidFill>
                <a:latin typeface="Aptos"/>
              </a:rPr>
              <a:t>Antes do merge final: confirmar o CI da branch e repetir o roteiro funcional.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VALIDAÇÃO EXTENSIONISTA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O projeto não transforma dado histórico em evidência sem comprovação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54864" cy="201168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24028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O que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33472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Instrumentos, perfis, protocolo de validação e resultados históricos declarados em artefatos anteriores.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57400"/>
            <a:ext cx="54864" cy="2011680"/>
          </a:xfrm>
          <a:prstGeom prst="rect">
            <a:avLst/>
          </a:prstGeom>
          <a:solidFill>
            <a:srgbClr val="9C5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24028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O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633472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Formulários/termos preenchidos, respostas anonimizadas ou CSV real que permita reproduzir quantidade, percentuais e média.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05740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057400"/>
            <a:ext cx="54864" cy="201168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24028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Como fechar corretamente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633472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Executar tarefas reais, registrar Feedback sem nome do participante, exportar apenas APRESENTACAO e anexar a evidência.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434840"/>
            <a:ext cx="10972800" cy="10972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9C5F18"/>
                </a:solidFill>
                <a:latin typeface="Aptos"/>
              </a:rPr>
              <a:t>Status acadêmico correto: PESQUISA DE CAMPO = PARCIAL até existir evidência primária real.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FECHAMENTO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Como defender o Safe Student diante da banca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57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Abra com o problema e limite do MVP.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157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Mostre as 5 funcionalidades essenciais.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54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37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300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Explique que requisito, classes, DER e sequência são artefatos diferentes.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154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337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300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Demonstre entrada → notificação → relatório → auditoria.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97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43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Mostre teste inválido e autorização no backend.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297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480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4443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Finalize com a pendência real de evidência de campo e evolução futura.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623560"/>
            <a:ext cx="10881360" cy="621792"/>
          </a:xfrm>
          <a:prstGeom prst="roundRect">
            <a:avLst/>
          </a:prstGeom>
          <a:solidFill>
            <a:srgbClr val="142A4A"/>
          </a:solidFill>
          <a:ln w="12700"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88152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Mais importante que “parecer completo” é conseguir provar cada afirmação diante da banca.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